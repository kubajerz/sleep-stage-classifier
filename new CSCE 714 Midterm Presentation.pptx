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273" r:id="rId4"/>
    <p:sldId id="274" r:id="rId5"/>
    <p:sldId id="276" r:id="rId6"/>
    <p:sldId id="277" r:id="rId7"/>
    <p:sldId id="261" r:id="rId8"/>
    <p:sldId id="263" r:id="rId9"/>
    <p:sldId id="260" r:id="rId10"/>
    <p:sldId id="266" r:id="rId11"/>
    <p:sldId id="282" r:id="rId12"/>
    <p:sldId id="258" r:id="rId13"/>
    <p:sldId id="267" r:id="rId14"/>
    <p:sldId id="269" r:id="rId15"/>
    <p:sldId id="259" r:id="rId16"/>
    <p:sldId id="270" r:id="rId17"/>
    <p:sldId id="265" r:id="rId18"/>
    <p:sldId id="272" r:id="rId19"/>
    <p:sldId id="280" r:id="rId20"/>
    <p:sldId id="279" r:id="rId21"/>
    <p:sldId id="283" r:id="rId22"/>
    <p:sldId id="284" r:id="rId23"/>
    <p:sldId id="290" r:id="rId24"/>
    <p:sldId id="289" r:id="rId25"/>
    <p:sldId id="262" r:id="rId26"/>
    <p:sldId id="275" r:id="rId27"/>
    <p:sldId id="278" r:id="rId28"/>
    <p:sldId id="257" r:id="rId29"/>
    <p:sldId id="26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1"/>
    <p:restoredTop sz="94694"/>
  </p:normalViewPr>
  <p:slideViewPr>
    <p:cSldViewPr snapToGrid="0">
      <p:cViewPr varScale="1">
        <p:scale>
          <a:sx n="95" d="100"/>
          <a:sy n="95" d="100"/>
        </p:scale>
        <p:origin x="200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606B38-CD01-9D70-39D2-75A3D9C183F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CC7E7-8536-A06B-49A6-AC8EDDC0ACC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10D8A5BC-4292-0D4F-9B82-E2694AF8C735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266910B-DE99-720A-A896-F534A3675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2D4D12-F7CE-215E-9A05-DD7D557269F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86662-DEC0-2D49-897F-2B1962AF5C6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53C7A-7A73-CE45-BD84-B25258CB1C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94D6EC1B-C2BA-3647-BBC3-04D688D31F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53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DA93-FB4D-5955-8173-D69C4ADDFD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F0C1A-FA40-BAA7-E246-119939C122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42B2F-58F3-E7CD-2387-AC5A230476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524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9C15AFB6-C2BE-C145-9D8F-38746BDBBC41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50AA6A-9E92-4187-4105-64A07F7AC2A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356113" y="6361590"/>
            <a:ext cx="2743200" cy="365129"/>
          </a:xfrm>
        </p:spPr>
        <p:txBody>
          <a:bodyPr/>
          <a:lstStyle>
            <a:lvl1pPr>
              <a:defRPr sz="1400"/>
            </a:lvl1pPr>
          </a:lstStyle>
          <a:p>
            <a:pPr lvl="0"/>
            <a:fld id="{4E6E314C-1E6E-7E40-B31F-A5DF35E943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584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53AC-60F8-28DD-1256-5A8A3677FC4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A1A6-B732-4308-E8E6-67CDF067B72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5F497-0142-B457-5403-671029B21E2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91547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4CA8B1C-2251-D74C-9F2B-B31EB6C3E6E4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143C24-02D5-C108-97B8-3888196A2C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352803" y="6356351"/>
            <a:ext cx="2743200" cy="365129"/>
          </a:xfrm>
        </p:spPr>
        <p:txBody>
          <a:bodyPr/>
          <a:lstStyle>
            <a:lvl1pPr>
              <a:defRPr sz="1400"/>
            </a:lvl1pPr>
          </a:lstStyle>
          <a:p>
            <a:pPr lvl="0"/>
            <a:fld id="{690F778B-04CE-BE4A-AC77-4F54472A8D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710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059-B3CC-E849-D3BC-E33F981A9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D828-A1B2-9492-A801-9EA1FDBDE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20FB-0A96-FB65-97D8-93A325BE47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6A0B39-4467-4B46-8C3B-F7CF4A21B73E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CFD5B-C2AF-8994-099B-87F9186875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99148" y="6350002"/>
            <a:ext cx="393703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77CEF0B-23CC-0C4C-BF1F-6C18B3B5A746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9366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581D-14F6-3493-0E59-CAA8B04C27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B98C-CE06-76E0-4F57-061783023B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18439-078E-AEC7-C21D-2531A8FEC22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A4689-4158-2741-41D1-A81183375A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DF9BEA-5D55-4843-97AE-E048D52AFB99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E45B1-F5EA-4461-2243-9BCB3BAE52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F14C-FD51-99C2-A688-315FB9F86C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F9443C-2D4C-A84F-9DF0-FB75789EF8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E25C-4D66-EEE6-D3F7-F8C28D2CB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76C6-87CC-CD20-8C70-3B818A867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78188-D6A7-8019-8434-432115151F7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17175-BE60-F985-75C5-B0F451A0788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70A98-5DF3-CD81-92EE-004C83A3E37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C62DB-0125-2351-81D7-3AFBADDE66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A62FF6-F7A2-5D42-9CBE-FFCDE1E59398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B68F4-07DA-2CAB-BC57-2390072DE3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12993-A830-9B2A-4758-2275A003AF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0B004A-CEC8-304F-9F72-5091CB96A1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39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E96A-5126-E1CA-40D1-B1B0CD90C00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4EDCF-80DF-3E85-58FF-420C02D928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2FB0AD-0376-DC4E-AA1F-8C3C73A7DF52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9901B-AF36-CC4D-55D6-F9453D5009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1CCC-EF1B-52C8-C8B1-FC466B15A8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1322A-3829-7044-8AA5-D4A2D5C95D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317A-F0BF-7B28-3F3C-123198824C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242D8C-3CD2-844F-A24E-69E83E573434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FE31D-41FB-7010-B334-F5D7A51875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874F6-14CC-F650-A5C5-AB3DF63A20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E8541D-912A-1043-8ED4-39541136A9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9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2E26-54A3-5300-62D5-67FC4A155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7506-F97C-675C-F67F-21D421019A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F0359-14BE-EE6E-5BBE-818CFF9A08B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D5F7E-92B3-3C3A-39F6-3C92D88605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C9B95F-F563-0F49-87C8-FFC32BBD8A01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605AC-4A2D-8BE9-4687-3699848196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73D01-5646-78BE-F086-FE6DB39338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FFD315-6CBF-7748-824A-0CF3E85AAB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5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9F90-C773-23E0-BAA5-01F3361D3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FCEDE-AEAB-3568-DCDC-23F459DCF67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3AE0D-7194-23A7-A8B4-280F59CD043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2AB52-DFDF-9A12-EBCA-3C53B920D5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285666-E39F-2A45-849F-BD512ECF3C3B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6A44D-4CD1-6D79-512B-2CD5E7A801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CE713-4933-A48C-2BE3-F5E244832A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7749ED-5E81-CD41-AD11-72D1898019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FE53-2B57-8E00-59F9-1850398C42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39C48-4332-AAA6-4506-1DBD1039DD8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9957-2A9F-E5E0-B308-DA7A29E502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FD995A-FCD7-DC48-A681-ED5B8A201B67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6DAF9-7BE1-DEA4-B232-9168B3F934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D9D1-E9C1-51CE-E6A5-036583F389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975F7F-18CE-9540-AB63-FA09A4BF81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47F5B-5D68-3F8A-569B-6E357B6D7FF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462B3-070D-7E0A-354F-5C43E92B4A1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07BF9-AF43-78C7-09CD-124D1DA2B3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193D91-7050-B641-B99B-7C2E2217CC9C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E59FA-CB92-6AF3-DBD8-29FD031A90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E9BE3-691D-F685-62FA-AE825564D9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0E5857-733D-9B4A-A946-97619EAA9A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8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DA93-FB4D-5955-8173-D69C4ADDFD8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F0C1A-FA40-BAA7-E246-119939C122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42B2F-58F3-E7CD-2387-AC5A230476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152403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9C15AFB6-C2BE-C145-9D8F-38746BDBBC41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C50AA6A-9E92-4187-4105-64A07F7AC2A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356113" y="6361590"/>
            <a:ext cx="2743200" cy="365129"/>
          </a:xfrm>
        </p:spPr>
        <p:txBody>
          <a:bodyPr/>
          <a:lstStyle>
            <a:lvl1pPr>
              <a:defRPr sz="1400"/>
            </a:lvl1pPr>
          </a:lstStyle>
          <a:p>
            <a:pPr lvl="0"/>
            <a:fld id="{4E6E314C-1E6E-7E40-B31F-A5DF35E943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584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53AC-60F8-28DD-1256-5A8A3677FC4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A1A6-B732-4308-E8E6-67CDF067B72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5F497-0142-B457-5403-671029B21E2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91547" y="6356351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04CA8B1C-2251-D74C-9F2B-B31EB6C3E6E4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F143C24-02D5-C108-97B8-3888196A2C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352803" y="6356351"/>
            <a:ext cx="2743200" cy="365129"/>
          </a:xfrm>
        </p:spPr>
        <p:txBody>
          <a:bodyPr/>
          <a:lstStyle>
            <a:lvl1pPr>
              <a:defRPr sz="1400"/>
            </a:lvl1pPr>
          </a:lstStyle>
          <a:p>
            <a:pPr lvl="0"/>
            <a:fld id="{690F778B-04CE-BE4A-AC77-4F54472A8D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7107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B059-B3CC-E849-D3BC-E33F981A98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D828-A1B2-9492-A801-9EA1FDBDE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D20FB-0A96-FB65-97D8-93A325BE472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6A0B39-4467-4B46-8C3B-F7CF4A21B73E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CFD5B-C2AF-8994-099B-87F9186875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5899148" y="6350002"/>
            <a:ext cx="393703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577CEF0B-23CC-0C4C-BF1F-6C18B3B5A746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9366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581D-14F6-3493-0E59-CAA8B04C27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7B98C-CE06-76E0-4F57-061783023B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18439-078E-AEC7-C21D-2531A8FEC22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A4689-4158-2741-41D1-A81183375A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DF9BEA-5D55-4843-97AE-E048D52AFB99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E45B1-F5EA-4461-2243-9BCB3BAE52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FF14C-FD51-99C2-A688-315FB9F86C0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7F9443C-2D4C-A84F-9DF0-FB75789EF8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3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E25C-4D66-EEE6-D3F7-F8C28D2CB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976C6-87CC-CD20-8C70-3B818A867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78188-D6A7-8019-8434-432115151F7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17175-BE60-F985-75C5-B0F451A0788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70A98-5DF3-CD81-92EE-004C83A3E37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BC62DB-0125-2351-81D7-3AFBADDE66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A62FF6-F7A2-5D42-9CBE-FFCDE1E59398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B68F4-07DA-2CAB-BC57-2390072DE3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12993-A830-9B2A-4758-2275A003AFE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0B004A-CEC8-304F-9F72-5091CB96A1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39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E96A-5126-E1CA-40D1-B1B0CD90C00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4EDCF-80DF-3E85-58FF-420C02D928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72FB0AD-0376-DC4E-AA1F-8C3C73A7DF52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9901B-AF36-CC4D-55D6-F9453D5009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1CCC-EF1B-52C8-C8B1-FC466B15A8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1322A-3829-7044-8AA5-D4A2D5C95D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03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D317A-F0BF-7B28-3F3C-123198824C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242D8C-3CD2-844F-A24E-69E83E573434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FE31D-41FB-7010-B334-F5D7A51875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874F6-14CC-F650-A5C5-AB3DF63A20C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E8541D-912A-1043-8ED4-39541136A91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90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2E26-54A3-5300-62D5-67FC4A155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7506-F97C-675C-F67F-21D421019A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F0359-14BE-EE6E-5BBE-818CFF9A08B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D5F7E-92B3-3C3A-39F6-3C92D88605C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C9B95F-F563-0F49-87C8-FFC32BBD8A01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605AC-4A2D-8BE9-4687-3699848196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73D01-5646-78BE-F086-FE6DB39338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FFD315-6CBF-7748-824A-0CF3E85AAB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544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9F90-C773-23E0-BAA5-01F3361D3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FCEDE-AEAB-3568-DCDC-23F459DCF677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3AE0D-7194-23A7-A8B4-280F59CD043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2AB52-DFDF-9A12-EBCA-3C53B920D5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285666-E39F-2A45-849F-BD512ECF3C3B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6A44D-4CD1-6D79-512B-2CD5E7A801C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CE713-4933-A48C-2BE3-F5E244832A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7749ED-5E81-CD41-AD11-72D1898019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9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FE53-2B57-8E00-59F9-1850398C424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39C48-4332-AAA6-4506-1DBD1039DD8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9957-2A9F-E5E0-B308-DA7A29E502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FD995A-FCD7-DC48-A681-ED5B8A201B67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6DAF9-7BE1-DEA4-B232-9168B3F9343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D9D1-E9C1-51CE-E6A5-036583F389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975F7F-18CE-9540-AB63-FA09A4BF81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34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747F5B-5D68-3F8A-569B-6E357B6D7FF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900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462B3-070D-7E0A-354F-5C43E92B4A1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07BF9-AF43-78C7-09CD-124D1DA2B3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193D91-7050-B641-B99B-7C2E2217CC9C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E59FA-CB92-6AF3-DBD8-29FD031A90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E9BE3-691D-F685-62FA-AE825564D9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A0E5857-733D-9B4A-A946-97619EAA9A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23B55-7498-7261-84F7-C33982B26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B6C1F-42F8-B773-3BE6-80BDBDE3C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E524-4A88-29AE-DBDA-962D1818ABE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7BB5BB8-19E8-3940-8439-A2D7700D1F94}" type="datetime1">
              <a:rPr lang="en-US"/>
              <a:pPr lvl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92CF-D2FD-D86C-A9DF-ACB370A59E3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8267-F164-AD56-78B1-410D6A867C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A39349B-831E-2149-A0D3-15E22AAC3E3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A23B55-7498-7261-84F7-C33982B26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B6C1F-42F8-B773-3BE6-80BDBDE3C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E524-4A88-29AE-DBDA-962D1818ABE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F7BB5BB8-19E8-3940-8439-A2D7700D1F94}" type="datetime1">
              <a:rPr lang="en-US"/>
              <a:pPr lvl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92CF-D2FD-D86C-A9DF-ACB370A59E3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F8267-F164-AD56-78B1-410D6A867C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A39349B-831E-2149-A0D3-15E22AAC3E3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280-021-00983-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i.org/10.1007/s11280-021-00983-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nins.2023.1218072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i.org/10.3389/fnins.2023.121807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1280-021-00983-3" TargetMode="External"/><Relationship Id="rId2" Type="http://schemas.openxmlformats.org/officeDocument/2006/relationships/hyperlink" Target="https://doi.org/10.1093/sleepadvances/zpaf02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3389/fnins.2023.1218072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y.clevelandclinic.org/health/body/12148-sleep-basics" TargetMode="External"/><Relationship Id="rId2" Type="http://schemas.openxmlformats.org/officeDocument/2006/relationships/hyperlink" Target="https://doi.org/10.1038/s41591-024-03155-8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33C1-80D3-AE10-3E42-6257E6488631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At the Edge:</a:t>
            </a:r>
            <a:br>
              <a:rPr lang="en-US"/>
            </a:br>
            <a:r>
              <a:rPr lang="en-US"/>
              <a:t>Sleep Stage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827662-FD53-3ED9-C5ED-5DE303DA3F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Alex Anderson-McLeod, Kuba Jerzmanowski, Kasra Korminejad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981DB-4847-6AA5-C38E-4A4D6BA942E1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A7839-613F-AE08-8C36-8295F8E1E6D8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DF47289-9ABF-5713-24E5-065A4D50121A}"/>
              </a:ext>
            </a:extLst>
          </p:cNvPr>
          <p:cNvSpPr txBox="1"/>
          <p:nvPr/>
        </p:nvSpPr>
        <p:spPr>
          <a:xfrm>
            <a:off x="3356113" y="6361590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3400D1C-DDEF-254C-BC1B-532D0C5DB997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31"/>
    </mc:Choice>
    <mc:Fallback>
      <p:transition spd="slow" advTm="60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3349-8FFE-90F1-6E1C-708418E438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What Is Sleep Stage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8FCDC-C1B6-FAA3-AE94-D88843C5AB5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Sleep cycles through four to five distinct, measurable physiological stages</a:t>
            </a:r>
          </a:p>
          <a:p>
            <a:pPr lvl="0"/>
            <a:r>
              <a:rPr lang="en-US"/>
              <a:t>Stages: Wake, N1 (light), N2 (light), N3 (slow-wave/deep), REM [6]</a:t>
            </a:r>
          </a:p>
          <a:p>
            <a:pPr lvl="0"/>
            <a:r>
              <a:rPr lang="en-US"/>
              <a:t>Each stage exhibits characteristic EEG signatures — alpha waves, delta waves, sleep spindles, K-complexes</a:t>
            </a:r>
          </a:p>
          <a:p>
            <a:pPr lvl="0"/>
            <a:r>
              <a:rPr lang="en-US"/>
              <a:t>Accurate staging reveals sleep architecture and its downstream effects on health and 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DDBB0-8AC7-4D42-3273-E2BA0DC25CD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2538-4083-EAE9-3A17-817D4AE4525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Sleep stage composition is a direct biomarker for downstream health outcomes [5]</a:t>
            </a:r>
          </a:p>
          <a:p>
            <a:pPr lvl="0"/>
            <a:r>
              <a:rPr lang="en-US"/>
              <a:t>Insufficient N3 (slow-wave sleep) → elevated Alzheimer’s and metabolic disease risk [7]</a:t>
            </a:r>
          </a:p>
          <a:p>
            <a:pPr lvl="0"/>
            <a:r>
              <a:rPr lang="en-US"/>
              <a:t>REM deficiency → mood dysregulation [8]</a:t>
            </a:r>
          </a:p>
          <a:p>
            <a:pPr lvl="0"/>
            <a:r>
              <a:rPr lang="en-US"/>
              <a:t>To study on a population level and To monitor individual at home, must be developed.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4717-BCBE-67A2-948E-7982CD858D3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The Gold Standard: Clinical PSG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FC7FF-4657-C276-5BF4-0ABA538463B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Polysomnography (PSG) — 20+ channels: EEG, EOG, EMG, cardiorespiratory monitoring</a:t>
            </a:r>
          </a:p>
          <a:p>
            <a:pPr lvl="0"/>
            <a:r>
              <a:rPr lang="en-US"/>
              <a:t>Multi-modal, full-head signal capture → high-fidelity staging across all AASM categories</a:t>
            </a:r>
          </a:p>
          <a:p>
            <a:pPr lvl="0"/>
            <a:r>
              <a:rPr lang="en-US"/>
              <a:t>Manual inter-rater Cohen’s </a:t>
            </a:r>
            <a:r>
              <a:rPr lang="el-GR"/>
              <a:t>κ ≈ 0.68–0.76 </a:t>
            </a:r>
            <a:r>
              <a:rPr lang="en-US"/>
              <a:t>[9,10]</a:t>
            </a:r>
          </a:p>
          <a:p>
            <a:pPr lvl="0"/>
            <a:r>
              <a:rPr lang="en-US"/>
              <a:t>Automated classification accuracy: </a:t>
            </a:r>
            <a:r>
              <a:rPr lang="el-GR"/>
              <a:t>κ </a:t>
            </a:r>
            <a:r>
              <a:rPr lang="en-US"/>
              <a:t>of up to 0.80 [10]</a:t>
            </a:r>
          </a:p>
          <a:p>
            <a:pPr lvl="1"/>
            <a:r>
              <a:rPr lang="en-US"/>
              <a:t>Same as humans</a:t>
            </a:r>
          </a:p>
          <a:p>
            <a:pPr lvl="0"/>
            <a:r>
              <a:rPr lang="en-US"/>
              <a:t>Requires a sleep clinic, trained technician, overnight stay → not viable for home use</a:t>
            </a:r>
          </a:p>
          <a:p>
            <a:pPr lvl="0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olysomnography (PSG) - Dr Indu Bubna">
            <a:extLst>
              <a:ext uri="{FF2B5EF4-FFF2-40B4-BE49-F238E27FC236}">
                <a16:creationId xmlns:a16="http://schemas.microsoft.com/office/drawing/2014/main" id="{E67B6080-EEE5-E801-CF7D-8CB2E53E2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6039" y="1062423"/>
            <a:ext cx="5358960" cy="3572643"/>
          </a:xfrm>
        </p:spPr>
      </p:pic>
      <p:pic>
        <p:nvPicPr>
          <p:cNvPr id="3" name="Picture 4" descr="Polysomnography (PSG): Also Known As a Sleep Study - Sleep Psychiatrist">
            <a:extLst>
              <a:ext uri="{FF2B5EF4-FFF2-40B4-BE49-F238E27FC236}">
                <a16:creationId xmlns:a16="http://schemas.microsoft.com/office/drawing/2014/main" id="{5DE6D73A-DE00-92A0-6523-75401ECFE2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81557" y="1062423"/>
            <a:ext cx="5954399" cy="35726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65107-1FDB-9CF7-F069-6305AA6E816A}"/>
              </a:ext>
            </a:extLst>
          </p:cNvPr>
          <p:cNvSpPr txBox="1"/>
          <p:nvPr/>
        </p:nvSpPr>
        <p:spPr>
          <a:xfrm>
            <a:off x="356039" y="4635066"/>
            <a:ext cx="5826253" cy="2462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dirty="0">
                <a:solidFill>
                  <a:srgbClr val="000000"/>
                </a:solidFill>
              </a:rPr>
              <a:t>Image credit:</a:t>
            </a:r>
            <a:r>
              <a:rPr lang="en-US" sz="1000" kern="0" dirty="0">
                <a:solidFill>
                  <a:srgbClr val="000000"/>
                </a:solidFill>
              </a:rPr>
              <a:t>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https://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www.drindububnapulmonologist.com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/images/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polysomnography.jpg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8CBA2-9EE9-3BA6-7B24-D373F17A819B}"/>
              </a:ext>
            </a:extLst>
          </p:cNvPr>
          <p:cNvSpPr txBox="1"/>
          <p:nvPr/>
        </p:nvSpPr>
        <p:spPr>
          <a:xfrm>
            <a:off x="5881557" y="4635066"/>
            <a:ext cx="7249802" cy="2462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dirty="0">
                <a:solidFill>
                  <a:srgbClr val="000000"/>
                </a:solidFill>
              </a:rPr>
              <a:t>Image credit:</a:t>
            </a:r>
            <a:r>
              <a:rPr lang="en-US" sz="1000" kern="0" dirty="0">
                <a:solidFill>
                  <a:srgbClr val="000000"/>
                </a:solidFill>
              </a:rPr>
              <a:t>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https://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sleeppsychiatrist.com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/wp-content/uploads/2024/10/polysomnography-sleep-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test.webp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C935-779B-28E4-28CF-25537D335E7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Smart Watches: Ubiquitous but Imprecise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0D3FB-21AD-4D5F-88BC-9ED926FB844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Now standard in consumer wearables — no additional hardware required</a:t>
            </a:r>
          </a:p>
          <a:p>
            <a:pPr lvl="0"/>
            <a:r>
              <a:rPr lang="en-US"/>
              <a:t>Rely on PPG (photoplethysmography) and accelerometry as proxies for neural activity</a:t>
            </a:r>
          </a:p>
          <a:p>
            <a:pPr lvl="0"/>
            <a:r>
              <a:rPr lang="en-US"/>
              <a:t>Cohen’s </a:t>
            </a:r>
            <a:r>
              <a:rPr lang="el-GR"/>
              <a:t>κ = 0.21–0.53 </a:t>
            </a:r>
            <a:r>
              <a:rPr lang="en-US"/>
              <a:t>across six commercial devices [1]</a:t>
            </a:r>
          </a:p>
          <a:p>
            <a:pPr lvl="0"/>
            <a:r>
              <a:rPr lang="en-US"/>
              <a:t>Adequate for coarse sleep/wake detection</a:t>
            </a:r>
          </a:p>
          <a:p>
            <a:pPr lvl="0"/>
            <a:r>
              <a:rPr lang="en-US"/>
              <a:t>EEG is a significantly more accurate method of classification [2-6,9,10], although also more intrusive.</a:t>
            </a:r>
          </a:p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F9BB3-C42A-CCE8-2268-F89D49F0FABD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6F7CB-F5CA-50A9-2611-369192EFDFF6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D6E17C60-75D5-0F45-4FAE-479A8258B95B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77B72A-7C53-D543-AC99-247271BFC6BC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6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2C81-4E68-EABB-1FD4-24F250D09D5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Our Approach: Wearable Single-Channel EEG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34564-6AF0-392B-40A3-FE17D67376E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80000"/>
              </a:lnSpc>
            </a:pPr>
            <a:r>
              <a:rPr lang="en-US"/>
              <a:t>Custom lightweight headset — single EEG channel (two electrodes), designed for home use</a:t>
            </a:r>
          </a:p>
          <a:p>
            <a:pPr lvl="0">
              <a:lnSpc>
                <a:spcPct val="80000"/>
              </a:lnSpc>
            </a:pPr>
            <a:r>
              <a:rPr lang="en-US"/>
              <a:t>Captures direct neural signals — fundamentally more informative than wrist PPG</a:t>
            </a:r>
          </a:p>
          <a:p>
            <a:pPr lvl="0">
              <a:lnSpc>
                <a:spcPct val="80000"/>
              </a:lnSpc>
            </a:pPr>
            <a:r>
              <a:rPr lang="en-US"/>
              <a:t>Less intrusive than clinical PSG — practical for nightly, longitudinal monitoring</a:t>
            </a:r>
          </a:p>
          <a:p>
            <a:pPr lvl="0">
              <a:lnSpc>
                <a:spcPct val="80000"/>
              </a:lnSpc>
            </a:pPr>
            <a:r>
              <a:rPr lang="en-US"/>
              <a:t>Projected accuracy: ~80–86%, consistent with comparable single-channel EEG studies [2–4]</a:t>
            </a:r>
          </a:p>
          <a:p>
            <a:pPr lvl="0">
              <a:lnSpc>
                <a:spcPct val="80000"/>
              </a:lnSpc>
            </a:pPr>
            <a:r>
              <a:rPr lang="en-US"/>
              <a:t>Edge inference on Raspberry Pi — self-contained, no network or cloud dependency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C7265-C07A-0D80-D8F5-D8F7E025A360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E8AA7-D4EB-1E2B-D54C-354DF897024D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2F523988-C9B6-7B69-2249-442D002F8BA3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D9BA20-F708-EE42-80F6-C5C943C789E5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7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5873-BD96-2B99-9F5F-95611B37F1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Why It Belongs on the 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E932-51D7-843B-B8D0-9F4E29AC3A9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Privacy — EEG contains sensitive biometric data; local processing avoids cloud transmission</a:t>
            </a:r>
          </a:p>
          <a:p>
            <a:pPr lvl="0"/>
            <a:r>
              <a:rPr lang="en-US"/>
              <a:t>Connectivity independence — functions without a network connection</a:t>
            </a:r>
          </a:p>
          <a:p>
            <a:pPr lvl="0"/>
            <a:r>
              <a:rPr lang="en-US"/>
              <a:t>Real-time latency — no round-trip delay to a remote server</a:t>
            </a:r>
          </a:p>
          <a:p>
            <a:pPr lvl="0"/>
            <a:r>
              <a:rPr lang="en-US"/>
              <a:t>Accessibility — compact, self-contained form factor suitable for home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E13BE-919F-2AE4-85F2-8442078E424C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4370C5-0FDC-9B71-6F0F-9FB8E8EF6619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4DB5AB22-26B2-3ACB-9FC5-F328444284A6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EBF99A-58D2-884B-BB86-0029281C815D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8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A667-3AD0-E6D4-4C1B-D050E0AF43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Available Sleep EEG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2ADBD-1DA4-A0BB-9474-4DCA1F6176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SleepEDF — most widely used benchmark; annotated by AASM sleep stage</a:t>
            </a:r>
          </a:p>
          <a:p>
            <a:pPr lvl="1"/>
            <a:r>
              <a:rPr lang="en-US"/>
              <a:t>Fpz-Cz probe locations (comfortable); two versions: SleepEDF-20 (20 subjects) and SleepEDF-78 (78 subjects)</a:t>
            </a:r>
          </a:p>
          <a:p>
            <a:pPr lvl="0"/>
            <a:r>
              <a:rPr lang="en-US"/>
              <a:t>SHHS (Sleep Heart Health Study) — large-scale, but uses uncomfortable probe placement</a:t>
            </a:r>
          </a:p>
          <a:p>
            <a:pPr lvl="0"/>
            <a:r>
              <a:rPr lang="en-US"/>
              <a:t>MASS (Montreal Archive of Sleep Studies) — requires institutional access review</a:t>
            </a:r>
          </a:p>
          <a:p>
            <a:pPr lvl="0"/>
            <a:r>
              <a:rPr lang="en-US"/>
              <a:t>Selected: SleepEDF — openly accessible, widely benchmarked, compatible probe locations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8F330-EDCE-3068-667D-1B88F36E54FA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F134F-223A-3AE0-01A4-2A9A20AD6BDE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C0D0AE6-A604-E746-6773-46BC0B5DA20F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222478-8E04-414F-A116-EC261973F5E6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9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C6A1D-4DF5-9760-6797-9FB0BCEC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34D3323-5F34-CF47-50DA-1F3961341C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842171"/>
            <a:ext cx="10515600" cy="2852735"/>
          </a:xfrm>
        </p:spPr>
        <p:txBody>
          <a:bodyPr anchorCtr="1"/>
          <a:lstStyle/>
          <a:p>
            <a:pPr lvl="0" algn="ctr"/>
            <a:r>
              <a:rPr lang="en-US"/>
              <a:t>Prior Research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8B51B7C-C70E-9E06-1BE5-5E48DEB36B3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4EBE944-BA92-3693-EFE0-580A4CFAC511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60515AAD-F679-F785-1DE4-9862C274125B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2BB742B7-67B9-10C7-4438-05F0F9659C34}"/>
              </a:ext>
            </a:extLst>
          </p:cNvPr>
          <p:cNvSpPr txBox="1"/>
          <p:nvPr/>
        </p:nvSpPr>
        <p:spPr>
          <a:xfrm>
            <a:off x="3352800" y="6444603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035BCA4-E939-754E-A14B-840333A005EE}" type="slidenum">
              <a: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10</a:t>
            </a:fld>
            <a:endParaRPr lang="en-US" sz="12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3916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05FD-5AD4-9297-EC67-CE0359A2EFD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000" b="1" dirty="0"/>
              <a:t>A lightweight automatic sleep staging method for children using single‑channel EEG based on edge artificial intelligence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18A04-2F69-073B-82C3-6E1099D43AC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Focuses on children, different EEG patterns from adults in terms of </a:t>
            </a:r>
          </a:p>
          <a:p>
            <a:pPr>
              <a:lnSpc>
                <a:spcPct val="80000"/>
              </a:lnSpc>
            </a:pPr>
            <a:r>
              <a:rPr lang="en-US" dirty="0"/>
              <a:t>Emphasizes the aforementioned privacy benefits of edge devices for EEG systems</a:t>
            </a:r>
          </a:p>
          <a:p>
            <a:pPr lvl="0">
              <a:lnSpc>
                <a:spcPct val="80000"/>
              </a:lnSpc>
            </a:pPr>
            <a:r>
              <a:rPr lang="en-US" dirty="0"/>
              <a:t>Used both Sleep-EDF and a custom dataset of child subjects</a:t>
            </a:r>
          </a:p>
          <a:p>
            <a:pPr lvl="0">
              <a:lnSpc>
                <a:spcPct val="80000"/>
              </a:lnSpc>
            </a:pPr>
            <a:r>
              <a:rPr lang="en-US" dirty="0" err="1"/>
              <a:t>SleepEDF</a:t>
            </a:r>
            <a:r>
              <a:rPr lang="en-US" dirty="0"/>
              <a:t> used </a:t>
            </a:r>
            <a:r>
              <a:rPr lang="en-US" dirty="0" err="1"/>
              <a:t>Fpz-Cz</a:t>
            </a:r>
            <a:r>
              <a:rPr lang="en-US" dirty="0"/>
              <a:t> probe locations, custom dataset used a variety of locations</a:t>
            </a:r>
          </a:p>
          <a:p>
            <a:pPr lvl="0">
              <a:lnSpc>
                <a:spcPct val="80000"/>
              </a:lnSpc>
            </a:pPr>
            <a:r>
              <a:rPr lang="en-US" dirty="0"/>
              <a:t>Attempts to classify sleep into Wake, N1, N2, N3, and REM categories</a:t>
            </a:r>
          </a:p>
          <a:p>
            <a:pPr lvl="0">
              <a:lnSpc>
                <a:spcPct val="80000"/>
              </a:lnSpc>
            </a:pPr>
            <a:r>
              <a:rPr lang="en-US" dirty="0"/>
              <a:t>All experiments were run on a high-end PC</a:t>
            </a:r>
          </a:p>
          <a:p>
            <a:pPr lvl="0">
              <a:lnSpc>
                <a:spcPct val="80000"/>
              </a:lnSpc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D27B4-83DC-3A3B-23D3-7CC9F42E485C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90BA3-5748-052B-0C5E-05DA39A16D22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48A5EB66-EEEF-58C9-B7C7-BA44060A712E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67643EF-CE72-6744-9494-C058925AAB0C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11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A622-A03C-F214-4D8E-418C780E62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 b="1" dirty="0"/>
              <a:t>A lightweight automatic sleep staging method for children using single‑channel EEG based on edge artificial intelligence </a:t>
            </a:r>
            <a:r>
              <a:rPr lang="en-US" sz="30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7735-21BC-94A2-0D2F-3D008CC40B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2662495"/>
          </a:xfrm>
        </p:spPr>
        <p:txBody>
          <a:bodyPr/>
          <a:lstStyle/>
          <a:p>
            <a:pPr lvl="0">
              <a:lnSpc>
                <a:spcPct val="80000"/>
              </a:lnSpc>
            </a:pPr>
            <a:r>
              <a:rPr lang="en-US"/>
              <a:t>Signals processed in time domain, not frequency domain</a:t>
            </a:r>
          </a:p>
          <a:p>
            <a:pPr lvl="0">
              <a:lnSpc>
                <a:spcPct val="80000"/>
              </a:lnSpc>
            </a:pPr>
            <a:r>
              <a:rPr lang="en-US"/>
              <a:t>Input data divided into 30s epochs</a:t>
            </a:r>
          </a:p>
          <a:p>
            <a:pPr lvl="0">
              <a:lnSpc>
                <a:spcPct val="80000"/>
              </a:lnSpc>
            </a:pPr>
            <a:r>
              <a:rPr lang="en-US"/>
              <a:t>Each epoch normalized with 0 mean and unit variance, then fed into model</a:t>
            </a:r>
          </a:p>
          <a:p>
            <a:pPr lvl="0">
              <a:lnSpc>
                <a:spcPct val="80000"/>
              </a:lnSpc>
            </a:pPr>
            <a:r>
              <a:rPr lang="en-US"/>
              <a:t>Accuracy on custom dataset was 83.06%, accuracy on SleepEDF was 86.41%</a:t>
            </a:r>
          </a:p>
          <a:p>
            <a:pPr lvl="0">
              <a:lnSpc>
                <a:spcPct val="80000"/>
              </a:lnSpc>
            </a:pPr>
            <a:endParaRPr lang="en-US"/>
          </a:p>
          <a:p>
            <a:pPr lvl="0">
              <a:lnSpc>
                <a:spcPct val="80000"/>
              </a:lnSpc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752B0-C933-F2CC-12C6-E283B4E4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" t="4483" r="1513" b="6954"/>
          <a:stretch>
            <a:fillRect/>
          </a:stretch>
        </p:blipFill>
        <p:spPr>
          <a:xfrm>
            <a:off x="3558744" y="4142094"/>
            <a:ext cx="7364623" cy="225423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13A8E3-7E11-232C-D258-8191B743325E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DADEC-9DDC-6185-E9D1-76083C3A26CA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86317-FF85-EBF4-8A9D-D05322050530}"/>
              </a:ext>
            </a:extLst>
          </p:cNvPr>
          <p:cNvSpPr txBox="1"/>
          <p:nvPr/>
        </p:nvSpPr>
        <p:spPr>
          <a:xfrm>
            <a:off x="595996" y="4811563"/>
            <a:ext cx="2532321" cy="14465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Image credit: 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L. Zhu, C. Wang, Z. He, and Y. Zhang, “A lightweight automatic sleep staging method for children using single-channel EEG based on edge artificial intelligence,” </a:t>
            </a:r>
            <a:r>
              <a:rPr lang="en-US" sz="10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World Wide Web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Dec. 2021, doi: 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https://doi.org/10.1007/s11280-021-00983-3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Slide Number Placeholder 10">
            <a:extLst>
              <a:ext uri="{FF2B5EF4-FFF2-40B4-BE49-F238E27FC236}">
                <a16:creationId xmlns:a16="http://schemas.microsoft.com/office/drawing/2014/main" id="{CFA5E49F-35AA-4277-6AC0-47C8BEA36DA3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13F45C-24BC-DC4F-BFB7-EC5CEB2ECBB9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12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A18E-C969-8E31-EB93-4CE9E253401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 b="1" dirty="0"/>
              <a:t>A lightweight automatic sleep staging method for children using single‑channel EEG based on edge artificial intelligence</a:t>
            </a:r>
            <a:r>
              <a:rPr lang="en-US" sz="3000" dirty="0"/>
              <a:t> (Continued)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A9F4AFA-D386-3D7B-A2AE-92BC32BE14B3}"/>
              </a:ext>
            </a:extLst>
          </p:cNvPr>
          <p:cNvSpPr txBox="1"/>
          <p:nvPr/>
        </p:nvSpPr>
        <p:spPr>
          <a:xfrm>
            <a:off x="249000" y="3314855"/>
            <a:ext cx="2532321" cy="14465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Image credit: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L. Zhu, C. Wang, Z. He, and Y. Zhang, “A lightweight automatic sleep staging method for children using single-channel EEG based on edge artificial intelligence,” </a:t>
            </a:r>
            <a:r>
              <a:rPr lang="en-US" sz="1000" b="0" i="1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World Wide Web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, Dec. 2021, 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doi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https://doi.org/10.1007/s11280-021-00983-3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BEC0655-D9C7-0AC7-F71C-EC18B4E34C8A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BEE4D10-C278-1C5D-D329-1610C82DD4BE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4521414-5605-DAE0-2EB9-6DBFE7960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10" y="1295860"/>
            <a:ext cx="6365046" cy="51938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4898C58-257A-4E72-ECA6-11F0484BEF12}"/>
              </a:ext>
            </a:extLst>
          </p:cNvPr>
          <p:cNvSpPr txBox="1"/>
          <p:nvPr/>
        </p:nvSpPr>
        <p:spPr>
          <a:xfrm>
            <a:off x="9433873" y="3314855"/>
            <a:ext cx="2509122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All activation functions are ReLU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C37E45D7-F3A1-A206-D5D7-1D4CBF3710BA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9F5054-E54B-E04F-8198-0148077361E7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13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932F-4B1E-BB4C-85EB-CC190CDEC2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 b="1" dirty="0"/>
              <a:t>A PORTABLE GUI BASED SLEEP DISORDER SYSTEM CLASSIFICATION BASED ON CONVOLUTION NEURAL NETWORKS (CNN) IN RASPBERRY PI (2021)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20B1B-57E8-53D3-3584-A95F3D034B0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Focuses on sleep disorders; datasets not relevant to us</a:t>
            </a:r>
          </a:p>
          <a:p>
            <a:pPr lvl="0"/>
            <a:r>
              <a:rPr lang="en-US"/>
              <a:t>Binary classification between “healthy” and “unhealthy”</a:t>
            </a:r>
          </a:p>
          <a:p>
            <a:pPr lvl="0"/>
            <a:r>
              <a:rPr lang="en-US"/>
              <a:t>Deploys on a Raspberry Pi (edge AI)</a:t>
            </a:r>
          </a:p>
          <a:p>
            <a:pPr lvl="0"/>
            <a:r>
              <a:rPr lang="en-US"/>
              <a:t>Uses a single EEG channel</a:t>
            </a:r>
          </a:p>
          <a:p>
            <a:pPr lvl="0"/>
            <a:r>
              <a:rPr lang="en-US"/>
              <a:t>Signals processed in time domain</a:t>
            </a:r>
          </a:p>
          <a:p>
            <a:pPr lvl="0"/>
            <a:r>
              <a:rPr lang="en-US"/>
              <a:t>EEG data divided into 30s epochs and filtered for noise before being fed into model</a:t>
            </a:r>
          </a:p>
          <a:p>
            <a:pPr lvl="0"/>
            <a:r>
              <a:rPr lang="en-US"/>
              <a:t>Accuracy of 92% for sleep apnea and 89% for insomnia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6A0A7-5853-3B21-627F-07919355A029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24179-085C-4E7C-C875-6B7AC149E262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9F7AE71-8DB5-11DD-4C37-A82B2D6249CE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4DD3E4-1D88-2840-9191-7A6CA730AAF1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14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13EE-D17B-6924-7971-B6485020D97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 b="1" dirty="0"/>
              <a:t>A PORTABLE GUI BASED SLEEP DISORDER SYSTEM CLASSIFICATION BASED ON CONVOLUTION NEURAL NETWORKS (CNN) IN RASPBERRY PI </a:t>
            </a:r>
            <a:r>
              <a:rPr lang="en-US" sz="3000" dirty="0"/>
              <a:t>(Continued)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B174EC5-EDA5-4C10-1A49-339DF6FF73B4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12A683-736F-29F1-8856-5F876274C735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246C97-9800-851F-B6BF-E3C85149A564}"/>
              </a:ext>
            </a:extLst>
          </p:cNvPr>
          <p:cNvSpPr txBox="1"/>
          <p:nvPr/>
        </p:nvSpPr>
        <p:spPr>
          <a:xfrm>
            <a:off x="0" y="3429000"/>
            <a:ext cx="2243471" cy="144655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Image credit: 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A. Atianashie Miracle, E. Armah, and N. Mohammed, “A portable GUI based sleep disorder system classification based on convolution neural networks (CNN) in Raspberry Pi,” </a:t>
            </a:r>
            <a:r>
              <a:rPr lang="en-US" sz="10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J. Eng. Appl. Sci. Humanities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vol. 6, pp. 13–23, 2021.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9F2B8E2-0371-DCFE-7723-2931734AB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454" y="2767239"/>
            <a:ext cx="4057137" cy="24275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2DA0191-6AA9-55DE-4376-03ADA6576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575" y="1565708"/>
            <a:ext cx="3655606" cy="483061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3B812DA1-3F0D-2B85-809A-18BAB67A7946}"/>
              </a:ext>
            </a:extLst>
          </p:cNvPr>
          <p:cNvSpPr txBox="1"/>
          <p:nvPr/>
        </p:nvSpPr>
        <p:spPr>
          <a:xfrm>
            <a:off x="3178298" y="1913510"/>
            <a:ext cx="2509122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All activation functions are ReLU</a:t>
            </a:r>
          </a:p>
        </p:txBody>
      </p:sp>
      <p:sp>
        <p:nvSpPr>
          <p:cNvPr id="9" name="Slide Number Placeholder 21">
            <a:extLst>
              <a:ext uri="{FF2B5EF4-FFF2-40B4-BE49-F238E27FC236}">
                <a16:creationId xmlns:a16="http://schemas.microsoft.com/office/drawing/2014/main" id="{4D464E70-366F-ED84-A6AD-2E9D0B611B7A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E1B846-D867-3B49-B355-A8139872633E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15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7AE5-01CA-4B47-2607-C3F46AADBBC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 b="1" dirty="0"/>
              <a:t>Micro </a:t>
            </a:r>
            <a:r>
              <a:rPr lang="en-US" sz="3000" b="1" dirty="0" err="1"/>
              <a:t>SleepNet</a:t>
            </a:r>
            <a:r>
              <a:rPr lang="en-US" sz="3000" b="1" dirty="0"/>
              <a:t>: efficient deep learning model for mobile terminal real-time sleep staging (2023)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D7924-AA80-3CFC-7A98-7219847710E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2799536"/>
          </a:xfrm>
        </p:spPr>
        <p:txBody>
          <a:bodyPr/>
          <a:lstStyle/>
          <a:p>
            <a:pPr lvl="0">
              <a:lnSpc>
                <a:spcPct val="70000"/>
              </a:lnSpc>
            </a:pPr>
            <a:r>
              <a:rPr lang="en-US" sz="2400"/>
              <a:t>Deployed on a Snapdragon-based Android device, inference latency of 2.8ms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Model trained and tested on SleepEDF and SHHS datasets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Used Fpz-Cz probes on SleepEDF, C4-A1 probes on SHHS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Data divided into 30s epochs as usual</a:t>
            </a:r>
          </a:p>
          <a:p>
            <a:pPr lvl="1">
              <a:lnSpc>
                <a:spcPct val="70000"/>
              </a:lnSpc>
            </a:pPr>
            <a:r>
              <a:rPr lang="en-US" sz="2000"/>
              <a:t>No preprocessing whatsoever on the SleepEDF data</a:t>
            </a:r>
          </a:p>
          <a:p>
            <a:pPr lvl="1">
              <a:lnSpc>
                <a:spcPct val="70000"/>
              </a:lnSpc>
            </a:pPr>
            <a:r>
              <a:rPr lang="en-US" sz="2000"/>
              <a:t>Some preprocessing done on SHHS to correct for a class imbalance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Accuracy of 83.3 on SHHS, 79.5% on SleepEDF-78, and 82.8% on SleepEDF-20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893BD-F781-6E6E-B8A3-35238A26BC41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DA34D-D323-2118-4753-31D8ACF324F5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2C1C9-309E-4A41-02CB-F48BF55E5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3" y="4267248"/>
            <a:ext cx="7772400" cy="2013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6EE8BE8-ADBF-C05B-CD7D-40304310E3C7}"/>
              </a:ext>
            </a:extLst>
          </p:cNvPr>
          <p:cNvSpPr txBox="1"/>
          <p:nvPr/>
        </p:nvSpPr>
        <p:spPr>
          <a:xfrm>
            <a:off x="51389" y="4740578"/>
            <a:ext cx="2053852" cy="1323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Image credit: 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G. Liu </a:t>
            </a:r>
            <a:r>
              <a:rPr lang="en-US" sz="10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et al.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“Micro SleepNet: efficient deep learning model for mobile terminal real-time sleep staging,” </a:t>
            </a:r>
            <a:r>
              <a:rPr lang="en-US" sz="10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Frontiers in neuroscience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vol. 17, Jul. 2023, doi: 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https://doi.org/10.3389/fnins.2023.1218072</a:t>
            </a: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E8FD4EDF-67C0-1A3D-EC54-573FD47CE84B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49FA5B-E672-2C48-B7F6-ADAC54394338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16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A8107909-2147-C748-7291-ED5F7A7C99B4}"/>
              </a:ext>
            </a:extLst>
          </p:cNvPr>
          <p:cNvSpPr txBox="1"/>
          <p:nvPr/>
        </p:nvSpPr>
        <p:spPr>
          <a:xfrm>
            <a:off x="9972455" y="4719309"/>
            <a:ext cx="2268278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Left: SleepEDF-20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Center: SleepEDF-78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Right: SHHS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9E05-1A91-6E5A-A33D-7ADDF159A1E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3000" b="1" dirty="0"/>
              <a:t>Micro </a:t>
            </a:r>
            <a:r>
              <a:rPr lang="en-US" sz="3000" b="1" dirty="0" err="1"/>
              <a:t>SleepNet</a:t>
            </a:r>
            <a:r>
              <a:rPr lang="en-US" sz="3000" b="1" dirty="0"/>
              <a:t>: efficient deep learning model for mobile terminal real-time sleep staging </a:t>
            </a:r>
            <a:r>
              <a:rPr lang="en-US" sz="3000" dirty="0"/>
              <a:t>(Continued)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BFEE8A6-8C68-DAEB-BA88-FDDC8D6E443E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D1793F-901F-52C9-04D2-81D282B61004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7809F8C-635B-C324-13E1-85210C2C680D}"/>
              </a:ext>
            </a:extLst>
          </p:cNvPr>
          <p:cNvSpPr txBox="1"/>
          <p:nvPr/>
        </p:nvSpPr>
        <p:spPr>
          <a:xfrm>
            <a:off x="9247628" y="5317437"/>
            <a:ext cx="2753834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Image credit: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G. Liu </a:t>
            </a:r>
            <a:r>
              <a:rPr lang="en-US" sz="1000" b="0" i="1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et al.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, “Micro 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SleepNet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efficient deep learning model for mobile terminal real-time sleep staging,” </a:t>
            </a:r>
            <a:r>
              <a:rPr lang="en-US" sz="1000" b="0" i="1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Frontiers in neuroscience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, vol. 17, Jul. 2023, </a:t>
            </a:r>
            <a:r>
              <a:rPr lang="en-US" sz="1000" b="0" i="0" u="none" strike="noStrike" kern="1200" cap="none" spc="0" baseline="0" dirty="0" err="1">
                <a:solidFill>
                  <a:srgbClr val="000000"/>
                </a:solidFill>
                <a:uFillTx/>
                <a:latin typeface="Aptos"/>
              </a:rPr>
              <a:t>doi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: 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https://doi.org/10.3389/fnins.2023.1218072</a:t>
            </a:r>
            <a:r>
              <a:rPr lang="en-US" sz="1000" b="0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8C66828-3A0B-1358-E2C6-BC099D5C2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13">
            <a:off x="-770246" y="2306300"/>
            <a:ext cx="4797609" cy="314856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4F94BB6-F135-2BF3-1780-665B8C1C4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282" y="2087118"/>
            <a:ext cx="2315937" cy="39046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0048AA18-4E6B-427A-5C3E-2FEFA5E2F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373" y="2825102"/>
            <a:ext cx="1508467" cy="18789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4C81F7D9-2DC6-C6F3-87D9-CE190FBA0FA1}"/>
              </a:ext>
            </a:extLst>
          </p:cNvPr>
          <p:cNvSpPr txBox="1"/>
          <p:nvPr/>
        </p:nvSpPr>
        <p:spPr>
          <a:xfrm>
            <a:off x="9012555" y="3003410"/>
            <a:ext cx="2988908" cy="17543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Channels are shuffled in between every two conv operations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All activation functions are Leaky ReLU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23891946-AEB8-1D50-1074-733686A54B18}"/>
              </a:ext>
            </a:extLst>
          </p:cNvPr>
          <p:cNvSpPr txBox="1"/>
          <p:nvPr/>
        </p:nvSpPr>
        <p:spPr>
          <a:xfrm>
            <a:off x="6431661" y="2527328"/>
            <a:ext cx="240533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Dconv Block Structure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D6D2C6D-D249-E34C-B2FD-2D4F7ABBC52B}"/>
              </a:ext>
            </a:extLst>
          </p:cNvPr>
          <p:cNvSpPr txBox="1"/>
          <p:nvPr/>
        </p:nvSpPr>
        <p:spPr>
          <a:xfrm>
            <a:off x="3718334" y="1717782"/>
            <a:ext cx="219784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GAP Block Structure</a:t>
            </a:r>
          </a:p>
        </p:txBody>
      </p:sp>
      <p:sp>
        <p:nvSpPr>
          <p:cNvPr id="12" name="Slide Number Placeholder 19">
            <a:extLst>
              <a:ext uri="{FF2B5EF4-FFF2-40B4-BE49-F238E27FC236}">
                <a16:creationId xmlns:a16="http://schemas.microsoft.com/office/drawing/2014/main" id="{604B1822-FB8A-E93F-44D8-85243B1FD88C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17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4052-36D8-5ACA-2415-BCB56863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06DA-D0F3-497C-598B-9BAAF26A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An improved neural network based on </a:t>
            </a:r>
            <a:r>
              <a:rPr lang="en-US" sz="3000" b="1" dirty="0" err="1"/>
              <a:t>SenNet</a:t>
            </a:r>
            <a:r>
              <a:rPr lang="en-US" sz="3000" b="1" dirty="0"/>
              <a:t> for sleep stage classification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699D-0732-12A6-6D14-8D39D5E8A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30-second sleep epochs to classifier  (100 Hz) </a:t>
            </a:r>
          </a:p>
          <a:p>
            <a:pPr lvl="1"/>
            <a:r>
              <a:rPr lang="en-US" dirty="0"/>
              <a:t>Five classes wake (W), rapid eye movement (R), non-rapid eye movement phase 1 (N1), phase 2 (N2), and phase 3 (N3)</a:t>
            </a:r>
          </a:p>
          <a:p>
            <a:r>
              <a:rPr lang="en-US" dirty="0" err="1"/>
              <a:t>SleepEDF</a:t>
            </a:r>
            <a:r>
              <a:rPr lang="en-US" dirty="0"/>
              <a:t> Dataset</a:t>
            </a:r>
          </a:p>
          <a:p>
            <a:r>
              <a:rPr lang="en-US" dirty="0" err="1"/>
              <a:t>Fpz-Cz</a:t>
            </a:r>
            <a:r>
              <a:rPr lang="en-US" dirty="0"/>
              <a:t> Channel</a:t>
            </a:r>
          </a:p>
          <a:p>
            <a:pPr lvl="1"/>
            <a:r>
              <a:rPr lang="en-US" dirty="0"/>
              <a:t>84.6 % acc</a:t>
            </a:r>
          </a:p>
          <a:p>
            <a:pPr lvl="1"/>
            <a:r>
              <a:rPr lang="en-US" dirty="0"/>
              <a:t>0.79 Kappa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684F309-AA11-9986-B6EE-EE2F4615B91B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EC6B203-43BB-A289-5C8F-B865E3F589D7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9" name="Slide Number Placeholder 19">
            <a:extLst>
              <a:ext uri="{FF2B5EF4-FFF2-40B4-BE49-F238E27FC236}">
                <a16:creationId xmlns:a16="http://schemas.microsoft.com/office/drawing/2014/main" id="{EE2936D6-8FBF-EF86-24F1-5F30C1E6FE47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18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93443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D10E-C52F-29B0-D382-269494BA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/>
              <a:t>An improved neural network based on </a:t>
            </a:r>
            <a:r>
              <a:rPr lang="en-US" sz="3000" b="1" dirty="0" err="1"/>
              <a:t>SenNet</a:t>
            </a:r>
            <a:r>
              <a:rPr lang="en-US" sz="3000" b="1" dirty="0"/>
              <a:t> for sleep stage classification </a:t>
            </a:r>
            <a:r>
              <a:rPr lang="en-US" sz="3000" dirty="0"/>
              <a:t>(cont.)</a:t>
            </a:r>
            <a:endParaRPr lang="en-US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8068-993E-C2DB-D37F-6A54F889A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519518"/>
            <a:ext cx="10515600" cy="4657445"/>
          </a:xfrm>
        </p:spPr>
        <p:txBody>
          <a:bodyPr/>
          <a:lstStyle/>
          <a:p>
            <a:r>
              <a:rPr lang="en-US" dirty="0"/>
              <a:t>Two different kernel size convolution d</a:t>
            </a:r>
          </a:p>
          <a:p>
            <a:pPr lvl="1"/>
            <a:r>
              <a:rPr lang="en-US" dirty="0"/>
              <a:t>different feature extraction (frequency vs. time  domain)</a:t>
            </a:r>
          </a:p>
          <a:p>
            <a:pPr lvl="1"/>
            <a:r>
              <a:rPr lang="en-US" dirty="0"/>
              <a:t>k=400 and k=50</a:t>
            </a:r>
          </a:p>
          <a:p>
            <a:r>
              <a:rPr lang="en-US" dirty="0"/>
              <a:t>Attention of fusion of features extracted from both </a:t>
            </a:r>
          </a:p>
          <a:p>
            <a:r>
              <a:rPr lang="en-US" dirty="0"/>
              <a:t>Then three more layers of convolution</a:t>
            </a:r>
          </a:p>
          <a:p>
            <a:r>
              <a:rPr lang="en-US" dirty="0"/>
              <a:t>Do post-processing with HMM</a:t>
            </a:r>
          </a:p>
          <a:p>
            <a:endParaRPr lang="en-US" dirty="0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24AA5795-B0B0-CE03-0B73-1B36971D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4500563"/>
            <a:ext cx="6896100" cy="167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F511EC-43D6-F163-4376-D7CE28677074}"/>
              </a:ext>
            </a:extLst>
          </p:cNvPr>
          <p:cNvSpPr txBox="1"/>
          <p:nvPr/>
        </p:nvSpPr>
        <p:spPr>
          <a:xfrm>
            <a:off x="838197" y="6064470"/>
            <a:ext cx="111199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Image credit: [11]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FB7EA43-2EA7-45E8-4915-67EB463CC7C3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1B9D6D8-C67A-C1DB-2CE3-256DBF26C512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10" name="Slide Number Placeholder 19">
            <a:extLst>
              <a:ext uri="{FF2B5EF4-FFF2-40B4-BE49-F238E27FC236}">
                <a16:creationId xmlns:a16="http://schemas.microsoft.com/office/drawing/2014/main" id="{1F34CE19-B58B-E83A-F975-6BEBF17F855B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19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46162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B5EE-6814-5A68-8440-BAD042E3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9655-FD9F-EF1C-EA12-929B9D28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b="1" dirty="0" err="1"/>
              <a:t>SCANSleepNet</a:t>
            </a:r>
            <a:r>
              <a:rPr lang="en-US" sz="3000" b="1" dirty="0"/>
              <a:t>: A spatial-channel attention network for sleep stage</a:t>
            </a:r>
            <a:br>
              <a:rPr lang="en-US" sz="3000" b="1" dirty="0"/>
            </a:br>
            <a:r>
              <a:rPr lang="en-US" sz="3000" b="1" dirty="0"/>
              <a:t>classiﬁcation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E8F6E-652E-0469-D83E-B7B31D09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519518"/>
            <a:ext cx="10515600" cy="4657445"/>
          </a:xfrm>
        </p:spPr>
        <p:txBody>
          <a:bodyPr/>
          <a:lstStyle/>
          <a:p>
            <a:r>
              <a:rPr lang="en-US" dirty="0"/>
              <a:t>30-second sleep epochs to classifier  (100 Hz) </a:t>
            </a:r>
          </a:p>
          <a:p>
            <a:pPr lvl="1"/>
            <a:r>
              <a:rPr lang="en-US" dirty="0"/>
              <a:t>Five classes wake (W), rapid eye movement (R), non-rapid eye movement phase 1 (N1), phase 2 (N2), and phase 3 (N3)</a:t>
            </a:r>
          </a:p>
          <a:p>
            <a:r>
              <a:rPr lang="en-US" dirty="0" err="1"/>
              <a:t>SleepEDF</a:t>
            </a:r>
            <a:r>
              <a:rPr lang="en-US" dirty="0"/>
              <a:t> Dataset</a:t>
            </a:r>
          </a:p>
          <a:p>
            <a:r>
              <a:rPr lang="en-US" dirty="0" err="1"/>
              <a:t>Fpz-Cz</a:t>
            </a:r>
            <a:r>
              <a:rPr lang="en-US" dirty="0"/>
              <a:t> Channel</a:t>
            </a:r>
          </a:p>
          <a:p>
            <a:pPr lvl="1"/>
            <a:r>
              <a:rPr lang="en-US" dirty="0"/>
              <a:t>85.2 % acc</a:t>
            </a:r>
          </a:p>
          <a:p>
            <a:pPr lvl="1"/>
            <a:r>
              <a:rPr lang="en-US" dirty="0"/>
              <a:t>0.80 Kappa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07359-0B1A-FFD3-5C85-2E638B9508FE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AF3929C-DFD5-E462-1A5A-0D1D4D147F07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8" name="Slide Number Placeholder 19">
            <a:extLst>
              <a:ext uri="{FF2B5EF4-FFF2-40B4-BE49-F238E27FC236}">
                <a16:creationId xmlns:a16="http://schemas.microsoft.com/office/drawing/2014/main" id="{7FD1A6D1-D2E5-8BCB-8D01-2A917EA55534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20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911385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8974-A607-33EF-74FB-21F5B788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BA39-8600-F560-26FB-88B0AE23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b="1" dirty="0" err="1"/>
              <a:t>SCANSleepNet</a:t>
            </a:r>
            <a:r>
              <a:rPr lang="en-US" sz="3000" b="1" dirty="0"/>
              <a:t>: A spatial-channel attention network for sleep stage</a:t>
            </a:r>
            <a:br>
              <a:rPr lang="en-US" sz="3000" b="1" dirty="0"/>
            </a:br>
            <a:r>
              <a:rPr lang="en-US" sz="3000" b="1" dirty="0"/>
              <a:t>classiﬁcation </a:t>
            </a:r>
            <a:r>
              <a:rPr lang="en-US" sz="3000" dirty="0"/>
              <a:t>(cont.)</a:t>
            </a:r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A7E7F113-B2B8-AA7E-48D9-8D9491607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135" y="4011327"/>
            <a:ext cx="6794500" cy="225409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ECF6CA-BDA2-1A61-A9C6-CE0FC89EC895}"/>
              </a:ext>
            </a:extLst>
          </p:cNvPr>
          <p:cNvSpPr txBox="1"/>
          <p:nvPr/>
        </p:nvSpPr>
        <p:spPr>
          <a:xfrm>
            <a:off x="4890991" y="3674181"/>
            <a:ext cx="111199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1" i="0" u="none" strike="noStrike" kern="1200" cap="none" spc="0" baseline="0" dirty="0">
                <a:solidFill>
                  <a:srgbClr val="000000"/>
                </a:solidFill>
                <a:uFillTx/>
                <a:latin typeface="Aptos"/>
              </a:rPr>
              <a:t>Image credit: [12]</a:t>
            </a:r>
            <a:endParaRPr lang="en-US" sz="10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133CE7-DF62-7E00-4D5F-9B0D0D46961D}"/>
              </a:ext>
            </a:extLst>
          </p:cNvPr>
          <p:cNvSpPr txBox="1"/>
          <p:nvPr/>
        </p:nvSpPr>
        <p:spPr>
          <a:xfrm>
            <a:off x="1041400" y="1690688"/>
            <a:ext cx="100965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k=25 and k=100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100Hz / 25 = 4 (delta waves primary indicator of REM)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100Hz / 100 = 1(primary indicator of Deep Sleep N3)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30FFAF4-FAE6-440A-4D45-5EA142008B33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5A15942-99E9-4E10-1293-502D9D5C3193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11" name="Slide Number Placeholder 19">
            <a:extLst>
              <a:ext uri="{FF2B5EF4-FFF2-40B4-BE49-F238E27FC236}">
                <a16:creationId xmlns:a16="http://schemas.microsoft.com/office/drawing/2014/main" id="{7D03BED4-3ACC-1F3E-EB6A-3056266B7414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21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67056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>
            <a:extLst>
              <a:ext uri="{FF2B5EF4-FFF2-40B4-BE49-F238E27FC236}">
                <a16:creationId xmlns:a16="http://schemas.microsoft.com/office/drawing/2014/main" id="{19D63A23-55B0-9A47-898C-E60F4C8F90A0}"/>
              </a:ext>
            </a:extLst>
          </p:cNvPr>
          <p:cNvSpPr/>
          <p:nvPr/>
        </p:nvSpPr>
        <p:spPr>
          <a:xfrm>
            <a:off x="10640785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53CA52AD-16BA-3D46-A97D-E499E5EAEA87}"/>
              </a:ext>
            </a:extLst>
          </p:cNvPr>
          <p:cNvSpPr/>
          <p:nvPr/>
        </p:nvSpPr>
        <p:spPr>
          <a:xfrm>
            <a:off x="9407071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50141B5-57ED-A143-8859-B02AB8FC7C77}"/>
              </a:ext>
            </a:extLst>
          </p:cNvPr>
          <p:cNvSpPr/>
          <p:nvPr/>
        </p:nvSpPr>
        <p:spPr>
          <a:xfrm>
            <a:off x="8173357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3B69FA8A-EF25-D446-AA3E-478B4DABD3F1}"/>
              </a:ext>
            </a:extLst>
          </p:cNvPr>
          <p:cNvSpPr/>
          <p:nvPr/>
        </p:nvSpPr>
        <p:spPr>
          <a:xfrm>
            <a:off x="6939642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DBECB8F0-7AB3-614E-AE1B-6309153CBB94}"/>
              </a:ext>
            </a:extLst>
          </p:cNvPr>
          <p:cNvSpPr/>
          <p:nvPr/>
        </p:nvSpPr>
        <p:spPr>
          <a:xfrm>
            <a:off x="5705928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4FE451C-4065-FE46-8C3B-36EBE9D98884}"/>
              </a:ext>
            </a:extLst>
          </p:cNvPr>
          <p:cNvSpPr/>
          <p:nvPr/>
        </p:nvSpPr>
        <p:spPr>
          <a:xfrm>
            <a:off x="4472214" y="1003300"/>
            <a:ext cx="12700" cy="45339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6C736-A7F4-8F94-72E2-95431567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01600"/>
            <a:ext cx="5080000" cy="508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/>
              </a:rPr>
              <a:t>Project Timeline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A3BE6A-BFBB-364F-B3DD-31EE422B1792}"/>
              </a:ext>
            </a:extLst>
          </p:cNvPr>
          <p:cNvSpPr/>
          <p:nvPr/>
        </p:nvSpPr>
        <p:spPr>
          <a:xfrm>
            <a:off x="254000" y="698500"/>
            <a:ext cx="11620500" cy="3048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17E478-932A-BF42-BC1F-6B4D32DC650E}"/>
              </a:ext>
            </a:extLst>
          </p:cNvPr>
          <p:cNvSpPr txBox="1"/>
          <p:nvPr/>
        </p:nvSpPr>
        <p:spPr>
          <a:xfrm>
            <a:off x="381000" y="698500"/>
            <a:ext cx="2730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Task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DC17EC-72DB-914C-A2BA-0985F121CEF9}"/>
              </a:ext>
            </a:extLst>
          </p:cNvPr>
          <p:cNvSpPr txBox="1"/>
          <p:nvPr/>
        </p:nvSpPr>
        <p:spPr>
          <a:xfrm>
            <a:off x="3238500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Mar 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43E8A3-3A5F-5C49-B17F-D8DD783E924F}"/>
              </a:ext>
            </a:extLst>
          </p:cNvPr>
          <p:cNvSpPr txBox="1"/>
          <p:nvPr/>
        </p:nvSpPr>
        <p:spPr>
          <a:xfrm>
            <a:off x="4472214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Mar 16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10E589-03C3-9144-8BFB-AD42D36E6FE6}"/>
              </a:ext>
            </a:extLst>
          </p:cNvPr>
          <p:cNvSpPr txBox="1"/>
          <p:nvPr/>
        </p:nvSpPr>
        <p:spPr>
          <a:xfrm>
            <a:off x="5705928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Mar 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A5E472-81D4-1E46-B432-4DF3CC91ACEB}"/>
              </a:ext>
            </a:extLst>
          </p:cNvPr>
          <p:cNvSpPr txBox="1"/>
          <p:nvPr/>
        </p:nvSpPr>
        <p:spPr>
          <a:xfrm>
            <a:off x="6939642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Mar 30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3F8C4E-060C-E949-8A79-44B8E8E978E1}"/>
              </a:ext>
            </a:extLst>
          </p:cNvPr>
          <p:cNvSpPr txBox="1"/>
          <p:nvPr/>
        </p:nvSpPr>
        <p:spPr>
          <a:xfrm>
            <a:off x="8173357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Apr 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5DD9EC-BD78-4742-B7BC-AE7321088F99}"/>
              </a:ext>
            </a:extLst>
          </p:cNvPr>
          <p:cNvSpPr txBox="1"/>
          <p:nvPr/>
        </p:nvSpPr>
        <p:spPr>
          <a:xfrm>
            <a:off x="9407071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Apr 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5F60B1-7A8B-4147-9421-B26CCF395E7F}"/>
              </a:ext>
            </a:extLst>
          </p:cNvPr>
          <p:cNvSpPr txBox="1"/>
          <p:nvPr/>
        </p:nvSpPr>
        <p:spPr>
          <a:xfrm>
            <a:off x="10640785" y="698500"/>
            <a:ext cx="1233714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Calibri"/>
                <a:cs typeface="Calibri"/>
              </a:rPr>
              <a:t>Apr 20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75E4839-5E6F-B148-B8C4-07DB624FF82E}"/>
              </a:ext>
            </a:extLst>
          </p:cNvPr>
          <p:cNvSpPr/>
          <p:nvPr/>
        </p:nvSpPr>
        <p:spPr>
          <a:xfrm>
            <a:off x="254000" y="1041400"/>
            <a:ext cx="11620500" cy="304800"/>
          </a:xfrm>
          <a:prstGeom prst="rect">
            <a:avLst/>
          </a:prstGeom>
          <a:solidFill>
            <a:srgbClr val="E8F4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5866A3-42B5-7C46-B4CE-7B66E9CEB326}"/>
              </a:ext>
            </a:extLst>
          </p:cNvPr>
          <p:cNvSpPr/>
          <p:nvPr/>
        </p:nvSpPr>
        <p:spPr>
          <a:xfrm>
            <a:off x="254000" y="1041400"/>
            <a:ext cx="63500" cy="304800"/>
          </a:xfrm>
          <a:prstGeom prst="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38EFDA-2658-1E42-83CF-ECA7031C4088}"/>
              </a:ext>
            </a:extLst>
          </p:cNvPr>
          <p:cNvSpPr txBox="1"/>
          <p:nvPr/>
        </p:nvSpPr>
        <p:spPr>
          <a:xfrm>
            <a:off x="406400" y="10414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E86AB"/>
                </a:solidFill>
                <a:latin typeface="Calibri"/>
                <a:cs typeface="Calibri"/>
              </a:rPr>
              <a:t>Board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45D2705-3155-894C-B324-FF5AF57498E1}"/>
              </a:ext>
            </a:extLst>
          </p:cNvPr>
          <p:cNvSpPr/>
          <p:nvPr/>
        </p:nvSpPr>
        <p:spPr>
          <a:xfrm>
            <a:off x="254000" y="13589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3A22772-8AC1-EE4D-975E-05DD78BA4F2B}"/>
              </a:ext>
            </a:extLst>
          </p:cNvPr>
          <p:cNvSpPr txBox="1"/>
          <p:nvPr/>
        </p:nvSpPr>
        <p:spPr>
          <a:xfrm>
            <a:off x="444500" y="13589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444444"/>
                </a:solidFill>
                <a:latin typeface="Calibri"/>
                <a:cs typeface="Calibri"/>
              </a:rPr>
              <a:t>Design work</a:t>
            </a: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8227AE4C-4595-494A-A616-166C4176DA94}"/>
              </a:ext>
            </a:extLst>
          </p:cNvPr>
          <p:cNvSpPr/>
          <p:nvPr/>
        </p:nvSpPr>
        <p:spPr>
          <a:xfrm>
            <a:off x="3276600" y="1409700"/>
            <a:ext cx="1157514" cy="228600"/>
          </a:xfrm>
          <a:prstGeom prst="roundRect">
            <a:avLst/>
          </a:prstGeom>
          <a:solidFill>
            <a:srgbClr val="2E86A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DC3E8D-AAC5-9541-B508-6CC8BB2F826C}"/>
              </a:ext>
            </a:extLst>
          </p:cNvPr>
          <p:cNvSpPr/>
          <p:nvPr/>
        </p:nvSpPr>
        <p:spPr>
          <a:xfrm>
            <a:off x="254000" y="1765300"/>
            <a:ext cx="11620500" cy="304800"/>
          </a:xfrm>
          <a:prstGeom prst="rect">
            <a:avLst/>
          </a:prstGeom>
          <a:solidFill>
            <a:srgbClr val="F3E8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40BA116-91C7-F44C-B898-DA6EF7763EF8}"/>
              </a:ext>
            </a:extLst>
          </p:cNvPr>
          <p:cNvSpPr/>
          <p:nvPr/>
        </p:nvSpPr>
        <p:spPr>
          <a:xfrm>
            <a:off x="254000" y="1765300"/>
            <a:ext cx="63500" cy="304800"/>
          </a:xfrm>
          <a:prstGeom prst="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8E7373F-BAA6-0F40-9A5D-2E43755F3F26}"/>
              </a:ext>
            </a:extLst>
          </p:cNvPr>
          <p:cNvSpPr txBox="1"/>
          <p:nvPr/>
        </p:nvSpPr>
        <p:spPr>
          <a:xfrm>
            <a:off x="406400" y="17653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7B2D8E"/>
                </a:solidFill>
                <a:latin typeface="Calibri"/>
                <a:cs typeface="Calibri"/>
              </a:rPr>
              <a:t>Model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ABE9B1E3-3525-864D-A043-AF5FD6BCA059}"/>
              </a:ext>
            </a:extLst>
          </p:cNvPr>
          <p:cNvSpPr/>
          <p:nvPr/>
        </p:nvSpPr>
        <p:spPr>
          <a:xfrm>
            <a:off x="254000" y="20828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286515E-6C6E-184C-96D9-3D1C0FF6284B}"/>
              </a:ext>
            </a:extLst>
          </p:cNvPr>
          <p:cNvSpPr txBox="1"/>
          <p:nvPr/>
        </p:nvSpPr>
        <p:spPr>
          <a:xfrm>
            <a:off x="444500" y="20828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Recreate other models</a:t>
            </a: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CC54F1F5-A200-2244-BB0D-2FB194A7FC04}"/>
              </a:ext>
            </a:extLst>
          </p:cNvPr>
          <p:cNvSpPr/>
          <p:nvPr/>
        </p:nvSpPr>
        <p:spPr>
          <a:xfrm>
            <a:off x="3276600" y="2133600"/>
            <a:ext cx="1157514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93DACB8-83FD-B64B-ABB6-3A88C4E31A92}"/>
              </a:ext>
            </a:extLst>
          </p:cNvPr>
          <p:cNvSpPr/>
          <p:nvPr/>
        </p:nvSpPr>
        <p:spPr>
          <a:xfrm>
            <a:off x="254000" y="2425700"/>
            <a:ext cx="11620500" cy="330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BB915DFA-3608-344D-AA57-D0079748DC82}"/>
              </a:ext>
            </a:extLst>
          </p:cNvPr>
          <p:cNvSpPr txBox="1"/>
          <p:nvPr/>
        </p:nvSpPr>
        <p:spPr>
          <a:xfrm>
            <a:off x="444500" y="24257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Formulate model architecture</a:t>
            </a:r>
          </a:p>
        </p:txBody>
      </p:sp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179521B6-FB7E-0D4B-B57A-CADF8512DBB7}"/>
              </a:ext>
            </a:extLst>
          </p:cNvPr>
          <p:cNvSpPr/>
          <p:nvPr/>
        </p:nvSpPr>
        <p:spPr>
          <a:xfrm>
            <a:off x="4510314" y="2476500"/>
            <a:ext cx="1157514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3CCA658-7DB3-5641-BC26-EC2CD3533D3D}"/>
              </a:ext>
            </a:extLst>
          </p:cNvPr>
          <p:cNvSpPr/>
          <p:nvPr/>
        </p:nvSpPr>
        <p:spPr>
          <a:xfrm>
            <a:off x="254000" y="27686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1B37AB5-F646-E44B-AE8D-8421D1D584DE}"/>
              </a:ext>
            </a:extLst>
          </p:cNvPr>
          <p:cNvSpPr txBox="1"/>
          <p:nvPr/>
        </p:nvSpPr>
        <p:spPr>
          <a:xfrm>
            <a:off x="444500" y="27686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Evaluate &amp; fine-tune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CCB3F9FE-27F1-6E48-A55A-783E70D5195F}"/>
              </a:ext>
            </a:extLst>
          </p:cNvPr>
          <p:cNvSpPr/>
          <p:nvPr/>
        </p:nvSpPr>
        <p:spPr>
          <a:xfrm>
            <a:off x="5744028" y="2819400"/>
            <a:ext cx="1157514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F15C70CB-F16D-1044-B39D-4449D4F84C7E}"/>
              </a:ext>
            </a:extLst>
          </p:cNvPr>
          <p:cNvSpPr/>
          <p:nvPr/>
        </p:nvSpPr>
        <p:spPr>
          <a:xfrm>
            <a:off x="254000" y="3111500"/>
            <a:ext cx="11620500" cy="330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C836967-CA23-0D4A-8E39-840D1FE130B2}"/>
              </a:ext>
            </a:extLst>
          </p:cNvPr>
          <p:cNvSpPr txBox="1"/>
          <p:nvPr/>
        </p:nvSpPr>
        <p:spPr>
          <a:xfrm>
            <a:off x="444500" y="31115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Train our model</a:t>
            </a:r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44E1F4ED-2821-D64D-9FAD-71152D2E3F8F}"/>
              </a:ext>
            </a:extLst>
          </p:cNvPr>
          <p:cNvSpPr/>
          <p:nvPr/>
        </p:nvSpPr>
        <p:spPr>
          <a:xfrm>
            <a:off x="6977742" y="3162300"/>
            <a:ext cx="540657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BD0B7FB-7EAC-2F44-8104-14A0BBF3045F}"/>
              </a:ext>
            </a:extLst>
          </p:cNvPr>
          <p:cNvSpPr/>
          <p:nvPr/>
        </p:nvSpPr>
        <p:spPr>
          <a:xfrm>
            <a:off x="254000" y="34544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06CC245-E233-494E-B09D-399F36F06A63}"/>
              </a:ext>
            </a:extLst>
          </p:cNvPr>
          <p:cNvSpPr txBox="1"/>
          <p:nvPr/>
        </p:nvSpPr>
        <p:spPr>
          <a:xfrm>
            <a:off x="444500" y="34544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Update model for edge</a:t>
            </a:r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9A5E79B9-5D6A-4A43-BDB7-F09D73BAE92C}"/>
              </a:ext>
            </a:extLst>
          </p:cNvPr>
          <p:cNvSpPr/>
          <p:nvPr/>
        </p:nvSpPr>
        <p:spPr>
          <a:xfrm>
            <a:off x="7594600" y="3505200"/>
            <a:ext cx="1157514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47FA1433-A3FB-0546-8EAF-4E793A1D4EE2}"/>
              </a:ext>
            </a:extLst>
          </p:cNvPr>
          <p:cNvSpPr/>
          <p:nvPr/>
        </p:nvSpPr>
        <p:spPr>
          <a:xfrm>
            <a:off x="254000" y="3797300"/>
            <a:ext cx="11620500" cy="330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055CDF6-4FC8-0A40-9C14-9116343282DD}"/>
              </a:ext>
            </a:extLst>
          </p:cNvPr>
          <p:cNvSpPr txBox="1"/>
          <p:nvPr/>
        </p:nvSpPr>
        <p:spPr>
          <a:xfrm>
            <a:off x="444500" y="37973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Test edge model</a:t>
            </a:r>
          </a:p>
        </p:txBody>
      </p:sp>
      <p:sp>
        <p:nvSpPr>
          <p:cNvPr id="238" name="Rounded Rectangle 237">
            <a:extLst>
              <a:ext uri="{FF2B5EF4-FFF2-40B4-BE49-F238E27FC236}">
                <a16:creationId xmlns:a16="http://schemas.microsoft.com/office/drawing/2014/main" id="{95C476DE-2E7F-F140-84F3-D95D03F70AFF}"/>
              </a:ext>
            </a:extLst>
          </p:cNvPr>
          <p:cNvSpPr/>
          <p:nvPr/>
        </p:nvSpPr>
        <p:spPr>
          <a:xfrm>
            <a:off x="8828314" y="3848100"/>
            <a:ext cx="540657" cy="228600"/>
          </a:xfrm>
          <a:prstGeom prst="roundRect">
            <a:avLst/>
          </a:prstGeom>
          <a:solidFill>
            <a:srgbClr val="7B2D8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602572F-9986-5247-845D-26C27AE8A28E}"/>
              </a:ext>
            </a:extLst>
          </p:cNvPr>
          <p:cNvSpPr/>
          <p:nvPr/>
        </p:nvSpPr>
        <p:spPr>
          <a:xfrm>
            <a:off x="254000" y="4203700"/>
            <a:ext cx="11620500" cy="304800"/>
          </a:xfrm>
          <a:prstGeom prst="rect">
            <a:avLst/>
          </a:prstGeom>
          <a:solidFill>
            <a:srgbClr val="FDF0E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C3567AF1-C1E3-4A4C-9D80-C950CF825F4E}"/>
              </a:ext>
            </a:extLst>
          </p:cNvPr>
          <p:cNvSpPr/>
          <p:nvPr/>
        </p:nvSpPr>
        <p:spPr>
          <a:xfrm>
            <a:off x="254000" y="4203700"/>
            <a:ext cx="63500" cy="304800"/>
          </a:xfrm>
          <a:prstGeom prst="rect">
            <a:avLst/>
          </a:prstGeom>
          <a:solidFill>
            <a:srgbClr val="D4740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FA787EB-25DD-234A-B79C-07F43C753BA9}"/>
              </a:ext>
            </a:extLst>
          </p:cNvPr>
          <p:cNvSpPr txBox="1"/>
          <p:nvPr/>
        </p:nvSpPr>
        <p:spPr>
          <a:xfrm>
            <a:off x="406400" y="4203700"/>
            <a:ext cx="2857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D4740E"/>
                </a:solidFill>
                <a:latin typeface="Calibri"/>
                <a:cs typeface="Calibri"/>
              </a:rPr>
              <a:t>Integration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4419F93A-F5DE-754D-8CB1-0E9F7E0BAF65}"/>
              </a:ext>
            </a:extLst>
          </p:cNvPr>
          <p:cNvSpPr/>
          <p:nvPr/>
        </p:nvSpPr>
        <p:spPr>
          <a:xfrm>
            <a:off x="254000" y="45212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D8DD804-8930-B147-A757-C5FB75B03968}"/>
              </a:ext>
            </a:extLst>
          </p:cNvPr>
          <p:cNvSpPr txBox="1"/>
          <p:nvPr/>
        </p:nvSpPr>
        <p:spPr>
          <a:xfrm>
            <a:off x="444500" y="45212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Verify board w/ OpenBCI</a:t>
            </a:r>
          </a:p>
        </p:txBody>
      </p:sp>
      <p:sp>
        <p:nvSpPr>
          <p:cNvPr id="244" name="Rounded Rectangle 243">
            <a:extLst>
              <a:ext uri="{FF2B5EF4-FFF2-40B4-BE49-F238E27FC236}">
                <a16:creationId xmlns:a16="http://schemas.microsoft.com/office/drawing/2014/main" id="{898FF1F2-6D09-A647-A17B-106604BFBE0F}"/>
              </a:ext>
            </a:extLst>
          </p:cNvPr>
          <p:cNvSpPr/>
          <p:nvPr/>
        </p:nvSpPr>
        <p:spPr>
          <a:xfrm>
            <a:off x="9445171" y="4572000"/>
            <a:ext cx="540657" cy="228600"/>
          </a:xfrm>
          <a:prstGeom prst="roundRect">
            <a:avLst/>
          </a:prstGeom>
          <a:solidFill>
            <a:srgbClr val="D4740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23AE8E39-784D-7140-8216-251FD2D8D09B}"/>
              </a:ext>
            </a:extLst>
          </p:cNvPr>
          <p:cNvSpPr/>
          <p:nvPr/>
        </p:nvSpPr>
        <p:spPr>
          <a:xfrm>
            <a:off x="254000" y="4864100"/>
            <a:ext cx="11620500" cy="330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538762E-0E64-FD41-94C5-008DFA3C5685}"/>
              </a:ext>
            </a:extLst>
          </p:cNvPr>
          <p:cNvSpPr txBox="1"/>
          <p:nvPr/>
        </p:nvSpPr>
        <p:spPr>
          <a:xfrm>
            <a:off x="444500" y="48641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Close data-to-model loop</a:t>
            </a:r>
          </a:p>
        </p:txBody>
      </p:sp>
      <p:sp>
        <p:nvSpPr>
          <p:cNvPr id="247" name="Rounded Rectangle 246">
            <a:extLst>
              <a:ext uri="{FF2B5EF4-FFF2-40B4-BE49-F238E27FC236}">
                <a16:creationId xmlns:a16="http://schemas.microsoft.com/office/drawing/2014/main" id="{DCDD9B17-D1F9-4E41-913E-D0200DECA4C7}"/>
              </a:ext>
            </a:extLst>
          </p:cNvPr>
          <p:cNvSpPr/>
          <p:nvPr/>
        </p:nvSpPr>
        <p:spPr>
          <a:xfrm>
            <a:off x="10062028" y="4914900"/>
            <a:ext cx="540657" cy="228600"/>
          </a:xfrm>
          <a:prstGeom prst="roundRect">
            <a:avLst/>
          </a:prstGeom>
          <a:solidFill>
            <a:srgbClr val="D4740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EDE7198-D02E-814C-8919-9BCDAA40672F}"/>
              </a:ext>
            </a:extLst>
          </p:cNvPr>
          <p:cNvSpPr/>
          <p:nvPr/>
        </p:nvSpPr>
        <p:spPr>
          <a:xfrm>
            <a:off x="254000" y="5207000"/>
            <a:ext cx="11620500" cy="330200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A1F66E02-F582-1243-BDBB-623368544A76}"/>
              </a:ext>
            </a:extLst>
          </p:cNvPr>
          <p:cNvSpPr txBox="1"/>
          <p:nvPr/>
        </p:nvSpPr>
        <p:spPr>
          <a:xfrm>
            <a:off x="444500" y="5207000"/>
            <a:ext cx="26035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444444"/>
                </a:solidFill>
                <a:latin typeface="Calibri"/>
                <a:cs typeface="Calibri"/>
              </a:rPr>
              <a:t>Test full loop on individual</a:t>
            </a:r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EF0E4238-F8AE-2544-B905-85C20DFA2936}"/>
              </a:ext>
            </a:extLst>
          </p:cNvPr>
          <p:cNvSpPr/>
          <p:nvPr/>
        </p:nvSpPr>
        <p:spPr>
          <a:xfrm>
            <a:off x="10678885" y="5257800"/>
            <a:ext cx="1157514" cy="228600"/>
          </a:xfrm>
          <a:prstGeom prst="roundRect">
            <a:avLst/>
          </a:prstGeom>
          <a:solidFill>
            <a:srgbClr val="D4740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7" name="Slide Number Placeholder 19">
            <a:extLst>
              <a:ext uri="{FF2B5EF4-FFF2-40B4-BE49-F238E27FC236}">
                <a16:creationId xmlns:a16="http://schemas.microsoft.com/office/drawing/2014/main" id="{B258125D-F949-2122-DD18-9437FC7794B3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22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  <p:sp>
        <p:nvSpPr>
          <p:cNvPr id="258" name="TextBox 3">
            <a:extLst>
              <a:ext uri="{FF2B5EF4-FFF2-40B4-BE49-F238E27FC236}">
                <a16:creationId xmlns:a16="http://schemas.microsoft.com/office/drawing/2014/main" id="{E1117A0D-4187-23C5-F92E-B044DEA56F35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259" name="TextBox 4">
            <a:extLst>
              <a:ext uri="{FF2B5EF4-FFF2-40B4-BE49-F238E27FC236}">
                <a16:creationId xmlns:a16="http://schemas.microsoft.com/office/drawing/2014/main" id="{27196868-9694-9DF3-96E9-E6B3F8F45BD1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</p:spTree>
    <p:extLst>
      <p:ext uri="{BB962C8B-B14F-4D97-AF65-F5344CB8AC3E}">
        <p14:creationId xmlns:p14="http://schemas.microsoft.com/office/powerpoint/2010/main" val="539240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EE0F-4F4F-5625-3756-2755DAE1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EEG PCB</a:t>
            </a:r>
          </a:p>
        </p:txBody>
      </p:sp>
      <p:pic>
        <p:nvPicPr>
          <p:cNvPr id="5" name="Content Placeholder 4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123B02A9-509E-4402-BD8C-87B5D8FDD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0941" y="3199636"/>
            <a:ext cx="6911788" cy="31967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19">
            <a:extLst>
              <a:ext uri="{FF2B5EF4-FFF2-40B4-BE49-F238E27FC236}">
                <a16:creationId xmlns:a16="http://schemas.microsoft.com/office/drawing/2014/main" id="{A0762227-0BEE-1A86-2E2B-99A895E2E69A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95520E4-7E45-E341-9AAD-39B755B8767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23</a:t>
            </a:fld>
            <a:endParaRPr lang="en-US" sz="1400" b="0" i="0" u="none" strike="noStrike" kern="1200" cap="none" spc="0" baseline="0" dirty="0">
              <a:solidFill>
                <a:srgbClr val="767676"/>
              </a:solidFill>
              <a:uFillTx/>
              <a:latin typeface="Aptos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40A99D1-3CE2-6D82-3520-5F029525AE09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 dirty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97CF3BC-65D4-4B56-D0D5-0F94A22BEBFD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93FFE-721A-99DE-C244-3D93A525B369}"/>
              </a:ext>
            </a:extLst>
          </p:cNvPr>
          <p:cNvSpPr txBox="1"/>
          <p:nvPr/>
        </p:nvSpPr>
        <p:spPr>
          <a:xfrm>
            <a:off x="838203" y="1690688"/>
            <a:ext cx="109145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ESP32-based (transmits EEG data to host machine via Bluetooth)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Battery-powered with built-in charging over USB-C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ADS1299 ADC for pre-amplifying EEG signals and converting them to 24-bit digital values</a:t>
            </a:r>
          </a:p>
        </p:txBody>
      </p:sp>
    </p:spTree>
    <p:extLst>
      <p:ext uri="{BB962C8B-B14F-4D97-AF65-F5344CB8AC3E}">
        <p14:creationId xmlns:p14="http://schemas.microsoft.com/office/powerpoint/2010/main" val="2765839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0CB-31B4-7A8E-09C8-DF8CB966176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054F-3164-5DC9-6FD1-8BAD25154E4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70000"/>
              </a:lnSpc>
            </a:pPr>
            <a:r>
              <a:rPr lang="en-US" sz="2400"/>
              <a:t>[1] A.-M. Schyvens </a:t>
            </a:r>
            <a:r>
              <a:rPr lang="en-US" sz="2400" i="1"/>
              <a:t>et al.</a:t>
            </a:r>
            <a:r>
              <a:rPr lang="en-US" sz="2400"/>
              <a:t>, “A performance validation of six commercial wrist-worn wearable sleep-tracking devices for sleep stage scoring compared to polysomnography,” </a:t>
            </a:r>
            <a:r>
              <a:rPr lang="en-US" sz="2400" i="1"/>
              <a:t>Sleep Advances</a:t>
            </a:r>
            <a:r>
              <a:rPr lang="en-US" sz="2400"/>
              <a:t>, vol. 6, no. 2, Mar. 2025, doi: </a:t>
            </a:r>
            <a:r>
              <a:rPr lang="en-US" sz="24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https://doi.org/10.1093/sleepadvances/zpaf021</a:t>
            </a:r>
            <a:r>
              <a:rPr lang="en-US" sz="2400"/>
              <a:t>.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‌[2] L. Zhu, C. Wang, Z. He, and Y. Zhang, “A lightweight automatic sleep staging method for children using single-channel EEG based on edge artificial intelligence,” </a:t>
            </a:r>
            <a:r>
              <a:rPr lang="en-US" sz="2400" i="1"/>
              <a:t>World Wide Web</a:t>
            </a:r>
            <a:r>
              <a:rPr lang="en-US" sz="2400"/>
              <a:t>, Dec. 2021, doi: </a:t>
            </a:r>
            <a:r>
              <a:rPr lang="en-US" sz="24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https://doi.org/10.1007/s11280-021-00983-3</a:t>
            </a:r>
            <a:r>
              <a:rPr lang="en-US" sz="2400"/>
              <a:t>.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‌[3] A. Atianashie Miracle, E. Armah, and N. Mohammed, “A portable GUI based sleep disorder system classification based on convolution neural networks (CNN) in Raspberry Pi,” </a:t>
            </a:r>
            <a:r>
              <a:rPr lang="en-US" sz="2400" i="1"/>
              <a:t>J. Eng. Appl. Sci. Humanities</a:t>
            </a:r>
            <a:r>
              <a:rPr lang="en-US" sz="2400"/>
              <a:t>, vol. 6, pp. 13–23, 2021.</a:t>
            </a:r>
          </a:p>
          <a:p>
            <a:pPr lvl="0">
              <a:lnSpc>
                <a:spcPct val="70000"/>
              </a:lnSpc>
            </a:pPr>
            <a:r>
              <a:rPr lang="en-US" sz="2400"/>
              <a:t>[4] G. Liu </a:t>
            </a:r>
            <a:r>
              <a:rPr lang="en-US" sz="2400" i="1"/>
              <a:t>et al.</a:t>
            </a:r>
            <a:r>
              <a:rPr lang="en-US" sz="2400"/>
              <a:t>, “Micro SleepNet: efficient deep learning model for mobile terminal real-time sleep staging,” </a:t>
            </a:r>
            <a:r>
              <a:rPr lang="en-US" sz="2400" i="1"/>
              <a:t>Frontiers in neuroscience</a:t>
            </a:r>
            <a:r>
              <a:rPr lang="en-US" sz="2400"/>
              <a:t>, vol. 17, Jul. 2023, doi: </a:t>
            </a:r>
            <a:r>
              <a:rPr lang="en-US" sz="24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https://doi.org/10.3389/fnins.2023.1218072</a:t>
            </a:r>
            <a:r>
              <a:rPr lang="en-US" sz="2400"/>
              <a:t>.</a:t>
            </a:r>
          </a:p>
          <a:p>
            <a:pPr marL="0" lvl="0" indent="0">
              <a:lnSpc>
                <a:spcPct val="70000"/>
              </a:lnSpc>
              <a:buNone/>
            </a:pPr>
            <a:endParaRPr lang="en-US" sz="2400"/>
          </a:p>
          <a:p>
            <a:pPr lvl="0">
              <a:lnSpc>
                <a:spcPct val="70000"/>
              </a:lnSpc>
            </a:pPr>
            <a:endParaRPr lang="en-US" sz="2400"/>
          </a:p>
          <a:p>
            <a:pPr lvl="0">
              <a:lnSpc>
                <a:spcPct val="70000"/>
              </a:lnSpc>
            </a:pPr>
            <a:endParaRPr lang="en-US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2DB6B4-BFA5-023D-AED7-68792CCD9930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0C659-42FA-461C-B97F-F044475F6014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F9E467F-AC5B-3214-AB88-BB70F465112B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13A0908-1CA5-0B44-AC20-640714EC793F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24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1139-6222-2EC2-6186-1E4B1FBFC39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References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A989-53E4-1E0E-8998-582F09CC546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400" dirty="0"/>
              <a:t>[5] Zheng, N.S., Annis, J., Master, H. </a:t>
            </a:r>
            <a:r>
              <a:rPr lang="en-US" sz="2400" i="1" dirty="0"/>
              <a:t>et al.</a:t>
            </a:r>
            <a:r>
              <a:rPr lang="en-US" sz="2400" dirty="0"/>
              <a:t> Sleep patterns and risk of chronic disease as measured by long-term monitoring with commercial wearable devices in the All of Us Research Program. </a:t>
            </a:r>
            <a:r>
              <a:rPr lang="en-US" sz="2400" i="1" dirty="0"/>
              <a:t>Nat Med</a:t>
            </a:r>
            <a:r>
              <a:rPr lang="en-US" sz="2400" dirty="0"/>
              <a:t> </a:t>
            </a:r>
            <a:r>
              <a:rPr lang="en-US" sz="2400" b="1" dirty="0"/>
              <a:t>30</a:t>
            </a:r>
            <a:r>
              <a:rPr lang="en-US" sz="2400" dirty="0"/>
              <a:t>, 2648–2656 (2024).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https://doi.org/10.1038/s41591-024-03155-8</a:t>
            </a:r>
            <a:r>
              <a:rPr lang="en-US" sz="2400" dirty="0"/>
              <a:t> </a:t>
            </a:r>
          </a:p>
          <a:p>
            <a:pPr lvl="0"/>
            <a:r>
              <a:rPr lang="en-US" sz="2400" dirty="0"/>
              <a:t>[6] </a:t>
            </a: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https://my.clevelandclinic.org/health/body/12148-sleep-basics</a:t>
            </a:r>
            <a:r>
              <a:rPr lang="en-US" sz="2400" dirty="0"/>
              <a:t> </a:t>
            </a:r>
          </a:p>
          <a:p>
            <a:pPr lvl="0"/>
            <a:r>
              <a:rPr lang="en-US" sz="2400" dirty="0"/>
              <a:t>[7] </a:t>
            </a:r>
            <a:r>
              <a:rPr lang="en-US" sz="2400" dirty="0" err="1"/>
              <a:t>Lv</a:t>
            </a:r>
            <a:r>
              <a:rPr lang="en-US" sz="2400" dirty="0"/>
              <a:t> YN, Cui Y, Zhang B, Huang SM. Sleep deficiency promotes Alzheimer's disease development and progression. Front Neurol. 2022 Dec 14;13:1053942. </a:t>
            </a:r>
            <a:r>
              <a:rPr lang="en-US" sz="2400" dirty="0" err="1"/>
              <a:t>doi</a:t>
            </a:r>
            <a:r>
              <a:rPr lang="en-US" sz="2400" dirty="0"/>
              <a:t>: 10.3389/fneur.2022.1053942. PMID: 36588906; PMCID: PMC9795181. </a:t>
            </a:r>
          </a:p>
          <a:p>
            <a:pPr lvl="0"/>
            <a:r>
              <a:rPr lang="en-US" sz="2400" dirty="0"/>
              <a:t>[8] Goldstein AN, Walker MP. The role of sleep in emotional brain function. Annu Rev Clin Psychol. 2014;10:679-708. </a:t>
            </a:r>
            <a:r>
              <a:rPr lang="en-US" sz="2400" dirty="0" err="1"/>
              <a:t>doi</a:t>
            </a:r>
            <a:r>
              <a:rPr lang="en-US" sz="2400" dirty="0"/>
              <a:t>: 10.1146/annurev-clinpsy-032813-153716. </a:t>
            </a:r>
            <a:r>
              <a:rPr lang="en-US" sz="2400" dirty="0" err="1"/>
              <a:t>Epub</a:t>
            </a:r>
            <a:r>
              <a:rPr lang="en-US" sz="2400" dirty="0"/>
              <a:t> 2014 Jan 31. PMID: 24499013; PMCID: PMC4286245.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40D53-5E71-F68E-5450-A0193762F3D9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91512-DB78-2CD2-65D7-11EBE87A6988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8BFF6CC9-5E34-3F31-95E1-2A89808EC70E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A86A56F-2711-114F-9D61-C7085C3A8A13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25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4CA3-5E4F-CEF3-CFF1-297CD06612D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References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3480-CAA4-D0BB-C5F3-DE50B0CFC90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[9] Lee YJ, Lee JY, Cho JH, Choi JH. Interrater reliability of sleep stage scoring: a meta-analysis. J Clin Sleep Med. 2022 Jan 1;18(1):193-202. </a:t>
            </a:r>
            <a:r>
              <a:rPr lang="en-US" sz="2400" dirty="0" err="1"/>
              <a:t>doi</a:t>
            </a:r>
            <a:r>
              <a:rPr lang="en-US" sz="2400" dirty="0"/>
              <a:t>: 10.5664/jcsm.9538. PMID: 34310277; PMCID: PMC8807917. </a:t>
            </a:r>
          </a:p>
          <a:p>
            <a:pPr lvl="0"/>
            <a:r>
              <a:rPr lang="en-US" sz="2400" dirty="0"/>
              <a:t>[10] Goldstein CA, Berry RB, Kent DT, Kristo DA, Seixas AA, Redline S, Westover MB. Artificial intelligence in sleep medicine: background and implications for clinicians. J Clin Sleep Med. 2020 Apr 15;16(4):609-618. </a:t>
            </a:r>
            <a:r>
              <a:rPr lang="en-US" sz="2400" dirty="0" err="1"/>
              <a:t>doi</a:t>
            </a:r>
            <a:r>
              <a:rPr lang="en-US" sz="2400" dirty="0"/>
              <a:t>: 10.5664/jcsm.8388. PMID: 32065113; PMCID: PMC7161463.</a:t>
            </a:r>
          </a:p>
          <a:p>
            <a:pPr lvl="0"/>
            <a:r>
              <a:rPr lang="en-US" sz="2400" dirty="0"/>
              <a:t>[11] J. Huang, L. Ren, X. Zhou and K. Yan, "An Improved Neural Network Based on </a:t>
            </a:r>
            <a:r>
              <a:rPr lang="en-US" sz="2400" dirty="0" err="1"/>
              <a:t>SENet</a:t>
            </a:r>
            <a:r>
              <a:rPr lang="en-US" sz="2400" dirty="0"/>
              <a:t> for Sleep Stage Classification," in IEEE Journal of Biomedical and Health Informatics, vol. 26, no. 10, pp. 4948-4956, Oct. 2022, </a:t>
            </a:r>
            <a:r>
              <a:rPr lang="en-US" sz="2400" dirty="0" err="1"/>
              <a:t>doi</a:t>
            </a:r>
            <a:r>
              <a:rPr lang="en-US" sz="2400" dirty="0"/>
              <a:t>: 10.1109/JBHI.2022.3157262.</a:t>
            </a:r>
          </a:p>
          <a:p>
            <a:pPr lvl="0"/>
            <a:r>
              <a:rPr lang="en-US" sz="2400" dirty="0"/>
              <a:t>[12] </a:t>
            </a:r>
            <a:r>
              <a:rPr lang="en-US" sz="2400" dirty="0" err="1"/>
              <a:t>Yuyun</a:t>
            </a:r>
            <a:r>
              <a:rPr lang="en-US" sz="2400" dirty="0"/>
              <a:t> Liu, </a:t>
            </a:r>
            <a:r>
              <a:rPr lang="en-US" sz="2400" dirty="0" err="1"/>
              <a:t>Qilei</a:t>
            </a:r>
            <a:r>
              <a:rPr lang="en-US" sz="2400" dirty="0"/>
              <a:t> Li, </a:t>
            </a:r>
            <a:r>
              <a:rPr lang="en-US" sz="2400" dirty="0" err="1"/>
              <a:t>Mingliang</a:t>
            </a:r>
            <a:r>
              <a:rPr lang="en-US" sz="2400" dirty="0"/>
              <a:t> Gao, Xiangyu Guo, and </a:t>
            </a:r>
            <a:r>
              <a:rPr lang="en-US" sz="2400" dirty="0" err="1"/>
              <a:t>Wenzhe</a:t>
            </a:r>
            <a:r>
              <a:rPr lang="en-US" sz="2400" dirty="0"/>
              <a:t> Zhai. 2025. </a:t>
            </a:r>
            <a:r>
              <a:rPr lang="en-US" sz="2400" dirty="0" err="1"/>
              <a:t>SCANSleepNet</a:t>
            </a:r>
            <a:r>
              <a:rPr lang="en-US" sz="2400" dirty="0"/>
              <a:t>: A spatial-channel attention network for sleep stage classification: </a:t>
            </a:r>
            <a:r>
              <a:rPr lang="en-US" sz="2400" dirty="0" err="1"/>
              <a:t>SCANSleepNet</a:t>
            </a:r>
            <a:r>
              <a:rPr lang="en-US" sz="2400" dirty="0"/>
              <a:t>: A spatial-channel attention network for sleep stage... Applied Intelligence 55, 10 (Jun 2025). https://</a:t>
            </a:r>
            <a:r>
              <a:rPr lang="en-US" sz="2400" dirty="0" err="1"/>
              <a:t>doi.org</a:t>
            </a:r>
            <a:r>
              <a:rPr lang="en-US" sz="2400" dirty="0"/>
              <a:t>/10.1007/s10489-025-06587-y</a:t>
            </a:r>
          </a:p>
          <a:p>
            <a:pPr lvl="0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673FA-4FB3-BC5B-AED9-E5BE92AE0D51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A7A2E-9612-4562-D84F-98E668467D7A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E2B65C2-3209-FBDA-0187-1FE5CADE2607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89AC288-708A-BE40-8A27-57CF863A84B4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26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B9C9-9E1F-44F5-961D-348F8037CE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000"/>
              <a:t>Sleep Stage Classification Using EEG Signal Analysis: A Comprehensive Survey and New Investigation (2016)</a:t>
            </a:r>
            <a:br>
              <a:rPr lang="en-US" sz="3000"/>
            </a:br>
            <a:r>
              <a:rPr lang="en-US" sz="3000"/>
              <a:t>PROBABLY DELETE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223C0-DAA8-9B32-6F6D-7E8E51475F5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70000"/>
              </a:lnSpc>
            </a:pPr>
            <a:r>
              <a:rPr lang="en-US" sz="1500"/>
              <a:t>Older, but highly-cited (400+ citations)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Signals processed in time domain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10s epochs vs standard 20 or 30 of past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Used SleepEDF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Single channel: Fpz-Cz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Classified by wake, stage 1, stage 2, stage 3, stage 4, and REM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Filtered input signals with Butterworth band-pass filters to isolate each brainwave band (alpha, gamma, etc)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Then they apply MMD to subwindows of each epoch, where they use pythag theorem to find distance b/t the max and min EEG signal in that window, and I think these MMD results form the feature vector that go to the model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It looks like they used off-the-shelf classifiers in MATLAB (EEEEWWWWW), nothing custom for the model?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Tested a variety of different models, accuracies ranged from 74% to 93.29%</a:t>
            </a:r>
          </a:p>
          <a:p>
            <a:pPr lvl="0">
              <a:lnSpc>
                <a:spcPct val="70000"/>
              </a:lnSpc>
            </a:pPr>
            <a:r>
              <a:rPr lang="en-US" sz="1500"/>
              <a:t>Most classifiers were really slow, on the order of tens of seconds, and only two were “quick”. Still a few seconds though.</a:t>
            </a:r>
          </a:p>
          <a:p>
            <a:pPr lvl="0">
              <a:lnSpc>
                <a:spcPct val="70000"/>
              </a:lnSpc>
            </a:pPr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D36C9-4F6D-65FE-A30D-EDB011D2CCFE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2F6C7-D885-D018-A427-17F713C15F1F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42673075-46CD-85DE-E010-72E4CEB437EA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A02CC5A-38FF-0441-AE19-8337156F39C5}" type="slidenum">
              <a:rPr lang="en-US" sz="14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rPr>
              <a:t>27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A14A-9EE4-7637-0E32-20E1A88F5D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z="2700"/>
              <a:t>IoT-Powered Mental Healthcare: Sleep State Analyzing and Monitoring Based on EEG Signal (2025)</a:t>
            </a:r>
            <a:br>
              <a:rPr lang="en-US" sz="2700"/>
            </a:br>
            <a:r>
              <a:rPr lang="en-US" sz="2700"/>
              <a:t>PROBABLY DELETE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5500-2F79-73FD-6BCC-2442AF0890E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70000"/>
              </a:lnSpc>
            </a:pPr>
            <a:r>
              <a:rPr lang="en-US" sz="2200"/>
              <a:t>Uses a similar architecture to us (ESP32 edge device transmitting to another device for processing), except the other device is a cloud server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Custom dataset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Used Fp1/Fp2/Fpz electrodes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Uses off-the-shelf EEG hardware connected to the ESP though; no custom integrated cost-saving stuff and it’s built on a breadboard (yuck)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ESP filters 60Hz power noise off the signals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Signals processed in frequency domain (FFT) and noise filtered with 15-second window size (epoch)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Tested several off-the-shelf models: SVM, FastTree, Naïve Bayes, and Logistic Regression. Classify awake/asleep, not stages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Naïve Bayes performed best, with 99.3% accuracy.</a:t>
            </a:r>
          </a:p>
          <a:p>
            <a:pPr lvl="0">
              <a:lnSpc>
                <a:spcPct val="70000"/>
              </a:lnSpc>
            </a:pPr>
            <a:r>
              <a:rPr lang="en-US" sz="2200"/>
              <a:t>TALK here about its architecture</a:t>
            </a:r>
          </a:p>
          <a:p>
            <a:pPr lvl="0">
              <a:lnSpc>
                <a:spcPct val="70000"/>
              </a:lnSpc>
            </a:pPr>
            <a:endParaRPr lang="en-US" sz="2200"/>
          </a:p>
          <a:p>
            <a:pPr lvl="0">
              <a:lnSpc>
                <a:spcPct val="70000"/>
              </a:lnSpc>
            </a:pPr>
            <a:endParaRPr lang="en-US" sz="2200"/>
          </a:p>
          <a:p>
            <a:pPr lvl="0">
              <a:lnSpc>
                <a:spcPct val="70000"/>
              </a:lnSpc>
            </a:pPr>
            <a:endParaRPr lang="en-US" sz="2200"/>
          </a:p>
          <a:p>
            <a:pPr lvl="0">
              <a:lnSpc>
                <a:spcPct val="70000"/>
              </a:lnSpc>
            </a:pPr>
            <a:endParaRPr lang="en-US" sz="2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4A521-72A9-75A4-7E71-C0475A4EE36C}"/>
              </a:ext>
            </a:extLst>
          </p:cNvPr>
          <p:cNvSpPr txBox="1"/>
          <p:nvPr/>
        </p:nvSpPr>
        <p:spPr>
          <a:xfrm>
            <a:off x="0" y="6396337"/>
            <a:ext cx="1515160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CSCE 714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D25E5-7FCC-B440-4885-F3AEB5C8EE54}"/>
              </a:ext>
            </a:extLst>
          </p:cNvPr>
          <p:cNvSpPr txBox="1"/>
          <p:nvPr/>
        </p:nvSpPr>
        <p:spPr>
          <a:xfrm>
            <a:off x="8332378" y="6396337"/>
            <a:ext cx="385961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400" b="0" i="0" u="none" strike="noStrike" kern="1200" cap="none" spc="0" baseline="0">
                <a:solidFill>
                  <a:srgbClr val="C00000"/>
                </a:solidFill>
                <a:uFillTx/>
                <a:latin typeface="Aptos"/>
              </a:rPr>
              <a:t>University of South Carolina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49CE41C6-6195-3517-C80B-58DB72EEB006}"/>
              </a:ext>
            </a:extLst>
          </p:cNvPr>
          <p:cNvSpPr txBox="1"/>
          <p:nvPr/>
        </p:nvSpPr>
        <p:spPr>
          <a:xfrm>
            <a:off x="33528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9363AF1-CF6F-9841-A1AC-28FA47C11825}" type="slidenum">
              <a:t>28</a:t>
            </a:fld>
            <a:endParaRPr lang="en-US" sz="1400" b="0" i="0" u="none" strike="noStrike" kern="1200" cap="none" spc="0" baseline="0">
              <a:solidFill>
                <a:srgbClr val="767676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5094637-CE1C-724D-9056-F76C10F21F8E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2685</Words>
  <Application>Microsoft Macintosh PowerPoint</Application>
  <PresentationFormat>Widescreen</PresentationFormat>
  <Paragraphs>255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Office Theme</vt:lpstr>
      <vt:lpstr>At the Edge: Sleep Stage Classification</vt:lpstr>
      <vt:lpstr>What Is Sleep Stage Classification?</vt:lpstr>
      <vt:lpstr>Why Does It Matter?</vt:lpstr>
      <vt:lpstr>The Gold Standard: Clinical PSG</vt:lpstr>
      <vt:lpstr>PowerPoint Presentation</vt:lpstr>
      <vt:lpstr>Smart Watches: Ubiquitous but Imprecise</vt:lpstr>
      <vt:lpstr>Our Approach: Wearable Single-Channel EEG</vt:lpstr>
      <vt:lpstr>Why It Belongs on the Edge</vt:lpstr>
      <vt:lpstr>Available Sleep EEG Datasets</vt:lpstr>
      <vt:lpstr>Prior Research</vt:lpstr>
      <vt:lpstr>A lightweight automatic sleep staging method for children using single‑channel EEG based on edge artificial intelligence (2022)</vt:lpstr>
      <vt:lpstr>A lightweight automatic sleep staging method for children using single‑channel EEG based on edge artificial intelligence (Continued)</vt:lpstr>
      <vt:lpstr>A lightweight automatic sleep staging method for children using single‑channel EEG based on edge artificial intelligence (Continued)</vt:lpstr>
      <vt:lpstr>A PORTABLE GUI BASED SLEEP DISORDER SYSTEM CLASSIFICATION BASED ON CONVOLUTION NEURAL NETWORKS (CNN) IN RASPBERRY PI (2021)</vt:lpstr>
      <vt:lpstr>A PORTABLE GUI BASED SLEEP DISORDER SYSTEM CLASSIFICATION BASED ON CONVOLUTION NEURAL NETWORKS (CNN) IN RASPBERRY PI (Continued)</vt:lpstr>
      <vt:lpstr>Micro SleepNet: efficient deep learning model for mobile terminal real-time sleep staging (2023)</vt:lpstr>
      <vt:lpstr>Micro SleepNet: efficient deep learning model for mobile terminal real-time sleep staging (Continued)</vt:lpstr>
      <vt:lpstr>An improved neural network based on SenNet for sleep stage classification</vt:lpstr>
      <vt:lpstr>An improved neural network based on SenNet for sleep stage classification (cont.)</vt:lpstr>
      <vt:lpstr>SCANSleepNet: A spatial-channel attention network for sleep stage classiﬁcation</vt:lpstr>
      <vt:lpstr>SCANSleepNet: A spatial-channel attention network for sleep stage classiﬁcation (cont.)</vt:lpstr>
      <vt:lpstr>Project Timeline</vt:lpstr>
      <vt:lpstr>Custom EEG PCB</vt:lpstr>
      <vt:lpstr>References</vt:lpstr>
      <vt:lpstr>References cont.</vt:lpstr>
      <vt:lpstr>References cont.</vt:lpstr>
      <vt:lpstr>Sleep Stage Classification Using EEG Signal Analysis: A Comprehensive Survey and New Investigation (2016) PROBABLY DELETE THIS</vt:lpstr>
      <vt:lpstr>IoT-Powered Mental Healthcare: Sleep State Analyzing and Monitoring Based on EEG Signal (2025) PROBABLY DELETE THIS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Anderson-McLeod</dc:creator>
  <cp:lastModifiedBy>Jerzmanowski, Kuba</cp:lastModifiedBy>
  <cp:revision>32</cp:revision>
  <dcterms:created xsi:type="dcterms:W3CDTF">2026-02-25T19:01:30Z</dcterms:created>
  <dcterms:modified xsi:type="dcterms:W3CDTF">2026-03-02T23:33:56Z</dcterms:modified>
</cp:coreProperties>
</file>