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handoutMasterIdLst>
    <p:handoutMasterId r:id="rId20"/>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35195"/>
    <p:restoredTop sz="94694"/>
  </p:normalViewPr>
  <p:slideViewPr>
    <p:cSldViewPr snapToGrid="0" snapToObjects="1">
      <p:cViewPr varScale="1">
        <p:scale>
          <a:sx n="124" d="100"/>
          <a:sy n="124" d="100"/>
        </p:scale>
        <p:origin x="200" y="264"/>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163" d="100"/>
          <a:sy n="163" d="100"/>
        </p:scale>
        <p:origin x="4576" y="1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5684E1E-E540-AC43-BC13-F90D5530553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F041BA6-039E-8F4D-B7F7-3C8E20B40A7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038C9C-4B69-864E-9EEE-DFA43CC144D2}" type="datetimeFigureOut">
              <a:rPr lang="en-US" smtClean="0"/>
              <a:t>2/27/26</a:t>
            </a:fld>
            <a:endParaRPr lang="en-US"/>
          </a:p>
        </p:txBody>
      </p:sp>
      <p:sp>
        <p:nvSpPr>
          <p:cNvPr id="4" name="Footer Placeholder 3">
            <a:extLst>
              <a:ext uri="{FF2B5EF4-FFF2-40B4-BE49-F238E27FC236}">
                <a16:creationId xmlns:a16="http://schemas.microsoft.com/office/drawing/2014/main" id="{DD469921-4617-FB4C-9847-172FF83023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0350DCBB-D829-754E-9E76-36A9E36432E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E947A92-5E9C-F94E-8B11-4D34C67AD036}" type="slidenum">
              <a:rPr lang="en-US" smtClean="0"/>
              <a:t>‹#›</a:t>
            </a:fld>
            <a:endParaRPr lang="en-US"/>
          </a:p>
        </p:txBody>
      </p:sp>
    </p:spTree>
    <p:extLst>
      <p:ext uri="{BB962C8B-B14F-4D97-AF65-F5344CB8AC3E}">
        <p14:creationId xmlns:p14="http://schemas.microsoft.com/office/powerpoint/2010/main" val="15392213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D9A61E-B1D6-C34D-A321-B3E90F6DE630}" type="datetimeFigureOut">
              <a:rPr lang="en-US" smtClean="0"/>
              <a:t>2/27/26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A3E603-0EE4-3042-9661-047EB577E4A2}" type="slidenum">
              <a:rPr lang="en-US" smtClean="0"/>
              <a:t>‹#›</a:t>
            </a:fld>
            <a:endParaRPr lang="en-US"/>
          </a:p>
        </p:txBody>
      </p:sp>
    </p:spTree>
    <p:extLst>
      <p:ext uri="{BB962C8B-B14F-4D97-AF65-F5344CB8AC3E}">
        <p14:creationId xmlns:p14="http://schemas.microsoft.com/office/powerpoint/2010/main" val="31039494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C6703-D0F7-E745-A687-AC990D0C464C}"/>
              </a:ext>
            </a:extLst>
          </p:cNvPr>
          <p:cNvSpPr>
            <a:spLocks noGrp="1"/>
          </p:cNvSpPr>
          <p:nvPr>
            <p:ph type="ctrTitle" hasCustomPrompt="1"/>
          </p:nvPr>
        </p:nvSpPr>
        <p:spPr>
          <a:xfrm>
            <a:off x="1524000" y="734056"/>
            <a:ext cx="9144000" cy="2387600"/>
          </a:xfrm>
        </p:spPr>
        <p:txBody>
          <a:bodyPr anchor="b"/>
          <a:lstStyle>
            <a:lvl1pPr algn="ctr">
              <a:defRPr sz="6000">
                <a:latin typeface="Impact" panose="020B0806030902050204" pitchFamily="34" charset="0"/>
              </a:defRPr>
            </a:lvl1pPr>
          </a:lstStyle>
          <a:p>
            <a:r>
              <a:rPr lang="en-US" dirty="0"/>
              <a:t>CLICK TO EDIT MASTER TITLE STYLE</a:t>
            </a:r>
          </a:p>
        </p:txBody>
      </p:sp>
      <p:sp>
        <p:nvSpPr>
          <p:cNvPr id="3" name="Subtitle 2">
            <a:extLst>
              <a:ext uri="{FF2B5EF4-FFF2-40B4-BE49-F238E27FC236}">
                <a16:creationId xmlns:a16="http://schemas.microsoft.com/office/drawing/2014/main" id="{61E6FFF2-58E4-794E-892D-6FF45321C2C0}"/>
              </a:ext>
            </a:extLst>
          </p:cNvPr>
          <p:cNvSpPr>
            <a:spLocks noGrp="1"/>
          </p:cNvSpPr>
          <p:nvPr>
            <p:ph type="subTitle" idx="1"/>
          </p:nvPr>
        </p:nvSpPr>
        <p:spPr>
          <a:xfrm>
            <a:off x="1524000" y="3313939"/>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Slide Number Placeholder 5">
            <a:extLst>
              <a:ext uri="{FF2B5EF4-FFF2-40B4-BE49-F238E27FC236}">
                <a16:creationId xmlns:a16="http://schemas.microsoft.com/office/drawing/2014/main" id="{1BA7C03E-EF71-2C40-9E45-BF08314EE5F1}"/>
              </a:ext>
            </a:extLst>
          </p:cNvPr>
          <p:cNvSpPr>
            <a:spLocks noGrp="1"/>
          </p:cNvSpPr>
          <p:nvPr>
            <p:ph type="sldNum" sz="quarter" idx="12"/>
          </p:nvPr>
        </p:nvSpPr>
        <p:spPr>
          <a:xfrm>
            <a:off x="838200" y="5991633"/>
            <a:ext cx="2587831" cy="365125"/>
          </a:xfrm>
        </p:spPr>
        <p:txBody>
          <a:bodyPr/>
          <a:lstStyle/>
          <a:p>
            <a:fld id="{B4E9AFF7-6653-6A4D-A979-64D2F5BECA26}" type="slidenum">
              <a:rPr lang="en-US" smtClean="0"/>
              <a:t>‹#›</a:t>
            </a:fld>
            <a:endParaRPr lang="en-US"/>
          </a:p>
        </p:txBody>
      </p:sp>
      <p:pic>
        <p:nvPicPr>
          <p:cNvPr id="13" name="Picture 12">
            <a:extLst>
              <a:ext uri="{FF2B5EF4-FFF2-40B4-BE49-F238E27FC236}">
                <a16:creationId xmlns:a16="http://schemas.microsoft.com/office/drawing/2014/main" id="{EB7CA613-45CE-304E-89CD-A7CD3E387F7A}"/>
              </a:ext>
            </a:extLst>
          </p:cNvPr>
          <p:cNvPicPr>
            <a:picLocks noChangeAspect="1"/>
          </p:cNvPicPr>
          <p:nvPr userDrawn="1"/>
        </p:nvPicPr>
        <p:blipFill>
          <a:blip r:embed="rId2"/>
          <a:srcRect/>
          <a:stretch/>
        </p:blipFill>
        <p:spPr>
          <a:xfrm>
            <a:off x="4674805" y="4461832"/>
            <a:ext cx="2842389" cy="1894926"/>
          </a:xfrm>
          <a:prstGeom prst="rect">
            <a:avLst/>
          </a:prstGeom>
        </p:spPr>
      </p:pic>
    </p:spTree>
    <p:extLst>
      <p:ext uri="{BB962C8B-B14F-4D97-AF65-F5344CB8AC3E}">
        <p14:creationId xmlns:p14="http://schemas.microsoft.com/office/powerpoint/2010/main" val="2957403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9ED37-4F17-3341-80DD-6302FD9C0346}"/>
              </a:ext>
            </a:extLst>
          </p:cNvPr>
          <p:cNvSpPr>
            <a:spLocks noGrp="1"/>
          </p:cNvSpPr>
          <p:nvPr>
            <p:ph type="title" hasCustomPrompt="1"/>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456E732-1F86-874D-B35F-F0D15E08E91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2C13372-CC48-6246-83C0-B536F3DCA7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75CF31-8755-3E42-B89A-9D67D96D7102}"/>
              </a:ext>
            </a:extLst>
          </p:cNvPr>
          <p:cNvSpPr>
            <a:spLocks noGrp="1"/>
          </p:cNvSpPr>
          <p:nvPr>
            <p:ph type="sldNum" sz="quarter" idx="12"/>
          </p:nvPr>
        </p:nvSpPr>
        <p:spPr>
          <a:xfrm>
            <a:off x="838200" y="6004323"/>
            <a:ext cx="2635332"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3067659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4E78-1993-A540-9F01-A28635FB489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EC1F37B-372F-0146-A20D-449355B25403}"/>
              </a:ext>
            </a:extLst>
          </p:cNvPr>
          <p:cNvSpPr>
            <a:spLocks noGrp="1"/>
          </p:cNvSpPr>
          <p:nvPr>
            <p:ph type="body" idx="1"/>
          </p:nvPr>
        </p:nvSpPr>
        <p:spPr>
          <a:xfrm>
            <a:off x="831850" y="4589463"/>
            <a:ext cx="10515600" cy="120173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87ADC64B-5CD5-7341-B6E0-9B4F677F9F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918467-A91D-B840-9781-A402C93E7E3A}"/>
              </a:ext>
            </a:extLst>
          </p:cNvPr>
          <p:cNvSpPr>
            <a:spLocks noGrp="1"/>
          </p:cNvSpPr>
          <p:nvPr>
            <p:ph type="sldNum" sz="quarter" idx="12"/>
          </p:nvPr>
        </p:nvSpPr>
        <p:spPr>
          <a:xfrm>
            <a:off x="838200" y="6004322"/>
            <a:ext cx="2665021"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38840171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BC8D6-6BCB-BD4B-B6E0-92A778004EF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BC4099C-8353-F44E-8406-26AC07974CEE}"/>
              </a:ext>
            </a:extLst>
          </p:cNvPr>
          <p:cNvSpPr>
            <a:spLocks noGrp="1"/>
          </p:cNvSpPr>
          <p:nvPr>
            <p:ph sz="half" idx="1"/>
          </p:nvPr>
        </p:nvSpPr>
        <p:spPr>
          <a:xfrm>
            <a:off x="838200" y="1825625"/>
            <a:ext cx="5181600" cy="4043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F8CC49-08EF-8048-B6B2-BC247008F046}"/>
              </a:ext>
            </a:extLst>
          </p:cNvPr>
          <p:cNvSpPr>
            <a:spLocks noGrp="1"/>
          </p:cNvSpPr>
          <p:nvPr>
            <p:ph sz="half" idx="2"/>
          </p:nvPr>
        </p:nvSpPr>
        <p:spPr>
          <a:xfrm>
            <a:off x="6172200" y="1825625"/>
            <a:ext cx="5181600" cy="40437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82CCBEF1-4544-884E-86EB-5374139098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77F880-2CCE-9044-8CE8-A7CF47CE5236}"/>
              </a:ext>
            </a:extLst>
          </p:cNvPr>
          <p:cNvSpPr>
            <a:spLocks noGrp="1"/>
          </p:cNvSpPr>
          <p:nvPr>
            <p:ph type="sldNum" sz="quarter" idx="12"/>
          </p:nvPr>
        </p:nvSpPr>
        <p:spPr>
          <a:xfrm>
            <a:off x="838200" y="6004323"/>
            <a:ext cx="2688771"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524532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CE802-B46A-204D-94D4-E50D913AEE8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AD7812B-2A55-D049-A1C2-A4C973ACA5A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D58766B-6B24-3B45-B55F-3D85F881F93D}"/>
              </a:ext>
            </a:extLst>
          </p:cNvPr>
          <p:cNvSpPr>
            <a:spLocks noGrp="1"/>
          </p:cNvSpPr>
          <p:nvPr>
            <p:ph sz="half" idx="2"/>
          </p:nvPr>
        </p:nvSpPr>
        <p:spPr>
          <a:xfrm>
            <a:off x="839788" y="2505075"/>
            <a:ext cx="5157787" cy="33921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A7F728-2418-1540-9191-5FDFA36D85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7948585-BFC1-9148-A0B5-07C83C2F21BA}"/>
              </a:ext>
            </a:extLst>
          </p:cNvPr>
          <p:cNvSpPr>
            <a:spLocks noGrp="1"/>
          </p:cNvSpPr>
          <p:nvPr>
            <p:ph sz="quarter" idx="4"/>
          </p:nvPr>
        </p:nvSpPr>
        <p:spPr>
          <a:xfrm>
            <a:off x="6172200" y="2505075"/>
            <a:ext cx="5183188" cy="339214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BD1371BF-1A9F-5641-95DB-6C0FE67BBB9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1121846-D4EB-5949-B8F3-E40099164899}"/>
              </a:ext>
            </a:extLst>
          </p:cNvPr>
          <p:cNvSpPr>
            <a:spLocks noGrp="1"/>
          </p:cNvSpPr>
          <p:nvPr>
            <p:ph type="sldNum" sz="quarter" idx="12"/>
          </p:nvPr>
        </p:nvSpPr>
        <p:spPr>
          <a:xfrm>
            <a:off x="838200" y="6004323"/>
            <a:ext cx="2682834"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164583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59A27-C210-CF48-97F8-943B5EBAC6EC}"/>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85EC86A-0D15-764F-AA81-41016E208EA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B633FAA-B5EA-C54D-A18B-17F16CA5F110}"/>
              </a:ext>
            </a:extLst>
          </p:cNvPr>
          <p:cNvSpPr>
            <a:spLocks noGrp="1"/>
          </p:cNvSpPr>
          <p:nvPr>
            <p:ph type="sldNum" sz="quarter" idx="12"/>
          </p:nvPr>
        </p:nvSpPr>
        <p:spPr>
          <a:xfrm>
            <a:off x="838200" y="6005974"/>
            <a:ext cx="2670958"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9712243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5675641-0B7A-F548-B3B6-241BCE86DE22}"/>
              </a:ext>
            </a:extLst>
          </p:cNvPr>
          <p:cNvSpPr>
            <a:spLocks noGrp="1"/>
          </p:cNvSpPr>
          <p:nvPr>
            <p:ph type="title"/>
          </p:nvPr>
        </p:nvSpPr>
        <p:spPr>
          <a:xfrm>
            <a:off x="-1044" y="-1414307"/>
            <a:ext cx="10515600" cy="1325563"/>
          </a:xfrm>
        </p:spPr>
        <p:txBody>
          <a:body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7AE991BC-E157-B340-860E-81A4EBD04B2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26805CF-1707-5749-8109-20FA44953EE0}"/>
              </a:ext>
            </a:extLst>
          </p:cNvPr>
          <p:cNvSpPr>
            <a:spLocks noGrp="1"/>
          </p:cNvSpPr>
          <p:nvPr>
            <p:ph type="sldNum" sz="quarter" idx="12"/>
          </p:nvPr>
        </p:nvSpPr>
        <p:spPr>
          <a:xfrm>
            <a:off x="838200" y="6004322"/>
            <a:ext cx="2605644"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6947464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654A1-6207-5141-AAB1-9A7630DA98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D39F95B-0887-9F4F-BA1C-0B9CBE5AED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D6515B1-8A32-AB43-82F2-51A60BC2E3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5FC3D973-68F9-5B46-A3D8-B7AF20B00E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4AA68CE-A588-FE4D-9C1E-5BE4A1A82F81}"/>
              </a:ext>
            </a:extLst>
          </p:cNvPr>
          <p:cNvSpPr>
            <a:spLocks noGrp="1"/>
          </p:cNvSpPr>
          <p:nvPr>
            <p:ph type="sldNum" sz="quarter" idx="12"/>
          </p:nvPr>
        </p:nvSpPr>
        <p:spPr>
          <a:xfrm>
            <a:off x="838200" y="6004323"/>
            <a:ext cx="2670958"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9483302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75185-7056-B946-8F27-7890BB2A345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A0AF3B6-3151-9346-B00D-EBED7ED75F0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CA5EF208-3C62-3840-A816-A69F27E0BF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AB0C1DD0-6624-6048-953E-41055A0D34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4C492C-9027-2B43-9637-56046A0631C2}"/>
              </a:ext>
            </a:extLst>
          </p:cNvPr>
          <p:cNvSpPr>
            <a:spLocks noGrp="1"/>
          </p:cNvSpPr>
          <p:nvPr>
            <p:ph type="sldNum" sz="quarter" idx="12"/>
          </p:nvPr>
        </p:nvSpPr>
        <p:spPr>
          <a:xfrm>
            <a:off x="838200" y="6004323"/>
            <a:ext cx="2676896" cy="365125"/>
          </a:xfrm>
        </p:spPr>
        <p:txBody>
          <a:bodyPr/>
          <a:lstStyle/>
          <a:p>
            <a:fld id="{B4E9AFF7-6653-6A4D-A979-64D2F5BECA26}" type="slidenum">
              <a:rPr lang="en-US" smtClean="0"/>
              <a:t>‹#›</a:t>
            </a:fld>
            <a:endParaRPr lang="en-US"/>
          </a:p>
        </p:txBody>
      </p:sp>
    </p:spTree>
    <p:extLst>
      <p:ext uri="{BB962C8B-B14F-4D97-AF65-F5344CB8AC3E}">
        <p14:creationId xmlns:p14="http://schemas.microsoft.com/office/powerpoint/2010/main" val="21284030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Conclus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24E78-1993-A540-9F01-A28635FB4893}"/>
              </a:ext>
            </a:extLst>
          </p:cNvPr>
          <p:cNvSpPr>
            <a:spLocks noGrp="1"/>
          </p:cNvSpPr>
          <p:nvPr>
            <p:ph type="title" hasCustomPrompt="1"/>
          </p:nvPr>
        </p:nvSpPr>
        <p:spPr>
          <a:xfrm>
            <a:off x="831850" y="1656521"/>
            <a:ext cx="10515600" cy="2187986"/>
          </a:xfrm>
        </p:spPr>
        <p:txBody>
          <a:bodyPr anchor="t"/>
          <a:lstStyle>
            <a:lvl1pPr algn="ctr">
              <a:defRPr sz="6000">
                <a:solidFill>
                  <a:schemeClr val="bg1"/>
                </a:solidFill>
              </a:defRPr>
            </a:lvl1pPr>
          </a:lstStyle>
          <a:p>
            <a:r>
              <a:rPr lang="en-US" dirty="0"/>
              <a:t>Conclusion</a:t>
            </a:r>
          </a:p>
        </p:txBody>
      </p:sp>
      <p:sp>
        <p:nvSpPr>
          <p:cNvPr id="3" name="Text Placeholder 2">
            <a:extLst>
              <a:ext uri="{FF2B5EF4-FFF2-40B4-BE49-F238E27FC236}">
                <a16:creationId xmlns:a16="http://schemas.microsoft.com/office/drawing/2014/main" id="{2EC1F37B-372F-0146-A20D-449355B25403}"/>
              </a:ext>
            </a:extLst>
          </p:cNvPr>
          <p:cNvSpPr>
            <a:spLocks noGrp="1"/>
          </p:cNvSpPr>
          <p:nvPr>
            <p:ph type="body" idx="1" hasCustomPrompt="1"/>
          </p:nvPr>
        </p:nvSpPr>
        <p:spPr>
          <a:xfrm>
            <a:off x="831850" y="4867949"/>
            <a:ext cx="5493794" cy="1500187"/>
          </a:xfrm>
        </p:spPr>
        <p:txBody>
          <a:bodyPr anchor="b"/>
          <a:lstStyle>
            <a:lvl1pPr marL="0" indent="0" algn="l">
              <a:buNone/>
              <a:defRPr sz="18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Name</a:t>
            </a:r>
          </a:p>
          <a:p>
            <a:pPr lvl="0"/>
            <a:r>
              <a:rPr lang="en-US" dirty="0"/>
              <a:t>Title</a:t>
            </a:r>
          </a:p>
          <a:p>
            <a:pPr lvl="0"/>
            <a:r>
              <a:rPr lang="en-US" dirty="0"/>
              <a:t>Email</a:t>
            </a:r>
          </a:p>
        </p:txBody>
      </p:sp>
      <p:pic>
        <p:nvPicPr>
          <p:cNvPr id="14" name="Picture 13">
            <a:extLst>
              <a:ext uri="{FF2B5EF4-FFF2-40B4-BE49-F238E27FC236}">
                <a16:creationId xmlns:a16="http://schemas.microsoft.com/office/drawing/2014/main" id="{AF9AC280-2351-6C45-82F9-60D04CD0151B}"/>
              </a:ext>
            </a:extLst>
          </p:cNvPr>
          <p:cNvPicPr>
            <a:picLocks noChangeAspect="1"/>
          </p:cNvPicPr>
          <p:nvPr userDrawn="1"/>
        </p:nvPicPr>
        <p:blipFill>
          <a:blip r:embed="rId3"/>
          <a:srcRect/>
          <a:stretch/>
        </p:blipFill>
        <p:spPr>
          <a:xfrm>
            <a:off x="6756810" y="5337313"/>
            <a:ext cx="4916491" cy="1015362"/>
          </a:xfrm>
          <a:prstGeom prst="rect">
            <a:avLst/>
          </a:prstGeom>
        </p:spPr>
      </p:pic>
    </p:spTree>
    <p:extLst>
      <p:ext uri="{BB962C8B-B14F-4D97-AF65-F5344CB8AC3E}">
        <p14:creationId xmlns:p14="http://schemas.microsoft.com/office/powerpoint/2010/main" val="37177766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4BC199-4655-F541-83EE-721E1D0864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5445D78-BC86-6C4A-8173-07BC8BF4F06C}"/>
              </a:ext>
            </a:extLst>
          </p:cNvPr>
          <p:cNvSpPr>
            <a:spLocks noGrp="1"/>
          </p:cNvSpPr>
          <p:nvPr>
            <p:ph type="body" idx="1"/>
          </p:nvPr>
        </p:nvSpPr>
        <p:spPr>
          <a:xfrm>
            <a:off x="838200" y="1825625"/>
            <a:ext cx="10515600" cy="399207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989E362-4DC4-BA42-AD46-DCFCBF72CE19}"/>
              </a:ext>
            </a:extLst>
          </p:cNvPr>
          <p:cNvSpPr>
            <a:spLocks noGrp="1"/>
          </p:cNvSpPr>
          <p:nvPr>
            <p:ph type="ftr" sz="quarter" idx="3"/>
          </p:nvPr>
        </p:nvSpPr>
        <p:spPr>
          <a:xfrm>
            <a:off x="4038600" y="6004323"/>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E75AB465-CD1B-7A41-8A74-7F4A07B23239}"/>
              </a:ext>
            </a:extLst>
          </p:cNvPr>
          <p:cNvSpPr>
            <a:spLocks noGrp="1"/>
          </p:cNvSpPr>
          <p:nvPr>
            <p:ph type="sldNum" sz="quarter" idx="4"/>
          </p:nvPr>
        </p:nvSpPr>
        <p:spPr>
          <a:xfrm>
            <a:off x="838200" y="6004323"/>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4E9AFF7-6653-6A4D-A979-64D2F5BECA26}" type="slidenum">
              <a:rPr lang="en-US" smtClean="0"/>
              <a:pPr/>
              <a:t>‹#›</a:t>
            </a:fld>
            <a:endParaRPr lang="en-US" dirty="0"/>
          </a:p>
        </p:txBody>
      </p:sp>
      <p:pic>
        <p:nvPicPr>
          <p:cNvPr id="16" name="Picture 15">
            <a:extLst>
              <a:ext uri="{FF2B5EF4-FFF2-40B4-BE49-F238E27FC236}">
                <a16:creationId xmlns:a16="http://schemas.microsoft.com/office/drawing/2014/main" id="{F6429FB2-E437-AE4D-BF94-9571FBEA05F4}"/>
              </a:ext>
            </a:extLst>
          </p:cNvPr>
          <p:cNvPicPr>
            <a:picLocks noChangeAspect="1"/>
          </p:cNvPicPr>
          <p:nvPr userDrawn="1"/>
        </p:nvPicPr>
        <p:blipFill>
          <a:blip r:embed="rId13"/>
          <a:srcRect/>
          <a:stretch/>
        </p:blipFill>
        <p:spPr>
          <a:xfrm>
            <a:off x="8254884" y="5829438"/>
            <a:ext cx="3645568" cy="752888"/>
          </a:xfrm>
          <a:prstGeom prst="rect">
            <a:avLst/>
          </a:prstGeom>
        </p:spPr>
      </p:pic>
    </p:spTree>
    <p:extLst>
      <p:ext uri="{BB962C8B-B14F-4D97-AF65-F5344CB8AC3E}">
        <p14:creationId xmlns:p14="http://schemas.microsoft.com/office/powerpoint/2010/main" val="22071300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400" kern="1200" cap="all" baseline="0">
          <a:solidFill>
            <a:schemeClr val="tx1"/>
          </a:solidFill>
          <a:latin typeface="Impact" panose="020B080603090205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at the Edge</a:t>
            </a:r>
            <a:r>
              <a:rPr lang="en-US" dirty="0"/>
              <a:t>:</a:t>
            </a:r>
            <a:br>
              <a:rPr lang="en-US" dirty="0"/>
            </a:br>
            <a:r>
              <a:rPr lang="en-US" dirty="0"/>
              <a:t>Sleep Stage Classification</a:t>
            </a:r>
            <a:endParaRPr dirty="0"/>
          </a:p>
        </p:txBody>
      </p:sp>
      <p:sp>
        <p:nvSpPr>
          <p:cNvPr id="3" name="Subtitle 2"/>
          <p:cNvSpPr>
            <a:spLocks noGrp="1"/>
          </p:cNvSpPr>
          <p:nvPr>
            <p:ph type="subTitle" idx="1"/>
          </p:nvPr>
        </p:nvSpPr>
        <p:spPr/>
        <p:txBody>
          <a:bodyPr/>
          <a:lstStyle/>
          <a:p>
            <a:r>
              <a:rPr dirty="0"/>
              <a:t>Alex Anderson-McLeod  ·  Kuba Jerzmanowski  ·  Kasra </a:t>
            </a:r>
            <a:r>
              <a:rPr dirty="0" err="1"/>
              <a:t>Korminejad</a:t>
            </a:r>
            <a:endParaRPr dirty="0"/>
          </a:p>
          <a:p>
            <a:r>
              <a:rPr dirty="0"/>
              <a:t>CSCE 714  ·  University of South Carolina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What Is Sleep Stage Classification?</a:t>
            </a:r>
          </a:p>
        </p:txBody>
      </p:sp>
      <p:sp>
        <p:nvSpPr>
          <p:cNvPr id="3" name="Content Placeholder 2"/>
          <p:cNvSpPr>
            <a:spLocks noGrp="1"/>
          </p:cNvSpPr>
          <p:nvPr>
            <p:ph idx="1"/>
          </p:nvPr>
        </p:nvSpPr>
        <p:spPr/>
        <p:txBody>
          <a:bodyPr wrap="square"/>
          <a:lstStyle/>
          <a:p>
            <a:r>
              <a:rPr dirty="0"/>
              <a:t>Sleep cycles through four to five distinct, measurable physiological stages</a:t>
            </a:r>
          </a:p>
          <a:p>
            <a:r>
              <a:rPr dirty="0"/>
              <a:t>Stages per AASM: Wake, N1 (light), N2 (light), N3 (slow-wave/deep), REM</a:t>
            </a:r>
          </a:p>
          <a:p>
            <a:r>
              <a:rPr dirty="0"/>
              <a:t>Each stage exhibits characteristic EEG signatures — alpha waves, delta waves, sleep spindles, K-complexes</a:t>
            </a:r>
          </a:p>
          <a:p>
            <a:r>
              <a:rPr dirty="0"/>
              <a:t>Accurate staging reveals sleep architecture and its downstream effects on health and cognition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Does It Matter?</a:t>
            </a:r>
          </a:p>
        </p:txBody>
      </p:sp>
      <p:sp>
        <p:nvSpPr>
          <p:cNvPr id="3" name="Content Placeholder 2"/>
          <p:cNvSpPr>
            <a:spLocks noGrp="1"/>
          </p:cNvSpPr>
          <p:nvPr>
            <p:ph idx="1"/>
          </p:nvPr>
        </p:nvSpPr>
        <p:spPr/>
        <p:txBody>
          <a:bodyPr wrap="square">
            <a:normAutofit fontScale="92500" lnSpcReduction="10000"/>
          </a:bodyPr>
          <a:lstStyle/>
          <a:p>
            <a:r>
              <a:rPr dirty="0"/>
              <a:t>Sleep stage composition is a direct biomarker for downstream health outcomes</a:t>
            </a:r>
          </a:p>
          <a:p>
            <a:r>
              <a:rPr dirty="0"/>
              <a:t>Insufficient N3 (slow-wave sleep) → elevated Alzheimer’s and metabolic disease risk</a:t>
            </a:r>
          </a:p>
          <a:p>
            <a:r>
              <a:rPr dirty="0"/>
              <a:t>REM deficiency → impaired memory consolidation and mood dysregulation</a:t>
            </a:r>
          </a:p>
          <a:p>
            <a:r>
              <a:rPr dirty="0"/>
              <a:t>Disrupted staging patterns → early indicator of sleep apnea, insomnia, narcolepsy</a:t>
            </a:r>
          </a:p>
          <a:p>
            <a:r>
              <a:rPr dirty="0"/>
              <a:t>Longitudinal staging enables clinical diagnosis and personalized treatment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Gold Standard: Clinical PSG</a:t>
            </a:r>
          </a:p>
        </p:txBody>
      </p:sp>
      <p:sp>
        <p:nvSpPr>
          <p:cNvPr id="3" name="Content Placeholder 2"/>
          <p:cNvSpPr>
            <a:spLocks noGrp="1"/>
          </p:cNvSpPr>
          <p:nvPr>
            <p:ph idx="1"/>
          </p:nvPr>
        </p:nvSpPr>
        <p:spPr/>
        <p:txBody>
          <a:bodyPr wrap="square">
            <a:normAutofit lnSpcReduction="10000"/>
          </a:bodyPr>
          <a:lstStyle/>
          <a:p>
            <a:r>
              <a:rPr dirty="0"/>
              <a:t>Polysomnography (PSG) — 20+ channels: EEG, EOG, EMG, cardiorespiratory monitoring</a:t>
            </a:r>
          </a:p>
          <a:p>
            <a:r>
              <a:rPr dirty="0"/>
              <a:t>Multi-modal, full-head signal capture → high-fidelity staging across all AASM categories</a:t>
            </a:r>
          </a:p>
          <a:p>
            <a:r>
              <a:rPr dirty="0"/>
              <a:t>Automated classification accuracy: ~87–90% (5-class staging)</a:t>
            </a:r>
          </a:p>
          <a:p>
            <a:r>
              <a:rPr dirty="0"/>
              <a:t>Manual inter-rater Cohen’s </a:t>
            </a:r>
            <a:r>
              <a:rPr dirty="0" err="1"/>
              <a:t>κ</a:t>
            </a:r>
            <a:r>
              <a:rPr dirty="0"/>
              <a:t> ≈ 0.76–0.82 (AASM scoring guidelines)</a:t>
            </a:r>
          </a:p>
          <a:p>
            <a:r>
              <a:rPr dirty="0"/>
              <a:t>Requires a sleep clinic, trained technician, overnight stay → not viable for home use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Smart Watches: Ubiquitous but Imprecise</a:t>
            </a:r>
          </a:p>
        </p:txBody>
      </p:sp>
      <p:sp>
        <p:nvSpPr>
          <p:cNvPr id="3" name="Content Placeholder 2"/>
          <p:cNvSpPr>
            <a:spLocks noGrp="1"/>
          </p:cNvSpPr>
          <p:nvPr>
            <p:ph idx="1"/>
          </p:nvPr>
        </p:nvSpPr>
        <p:spPr/>
        <p:txBody>
          <a:bodyPr wrap="square">
            <a:normAutofit lnSpcReduction="10000"/>
          </a:bodyPr>
          <a:lstStyle/>
          <a:p>
            <a:r>
              <a:rPr dirty="0"/>
              <a:t>Now standard in consumer wearables — no additional hardware required</a:t>
            </a:r>
          </a:p>
          <a:p>
            <a:r>
              <a:rPr dirty="0"/>
              <a:t>Rely on PPG (photoplethysmography) and accelerometry as proxies for neural activity</a:t>
            </a:r>
          </a:p>
          <a:p>
            <a:r>
              <a:rPr dirty="0"/>
              <a:t>Cohen’s </a:t>
            </a:r>
            <a:r>
              <a:rPr dirty="0" err="1"/>
              <a:t>κ</a:t>
            </a:r>
            <a:r>
              <a:rPr dirty="0"/>
              <a:t> = 0.21–0.53 across six commercial devices [1]</a:t>
            </a:r>
          </a:p>
          <a:p>
            <a:r>
              <a:rPr dirty="0"/>
              <a:t>Particularly poor at distinguishing NREM substages (N1 vs. N2 vs. N3)</a:t>
            </a:r>
          </a:p>
          <a:p>
            <a:r>
              <a:rPr dirty="0"/>
              <a:t>Adequate for coarse sleep/wake detection; insufficient for clinically meaningful staging</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Our Approach: Wearable Single-Channel EEG</a:t>
            </a:r>
          </a:p>
        </p:txBody>
      </p:sp>
      <p:sp>
        <p:nvSpPr>
          <p:cNvPr id="3" name="Content Placeholder 2"/>
          <p:cNvSpPr>
            <a:spLocks noGrp="1"/>
          </p:cNvSpPr>
          <p:nvPr>
            <p:ph idx="1"/>
          </p:nvPr>
        </p:nvSpPr>
        <p:spPr/>
        <p:txBody>
          <a:bodyPr wrap="square">
            <a:normAutofit fontScale="92500" lnSpcReduction="10000"/>
          </a:bodyPr>
          <a:lstStyle/>
          <a:p>
            <a:r>
              <a:rPr dirty="0"/>
              <a:t>Custom lightweight headset — single EEG channel (two electrodes), designed for home use</a:t>
            </a:r>
          </a:p>
          <a:p>
            <a:r>
              <a:rPr dirty="0"/>
              <a:t>Captures direct neural signals — fundamentally more informative than wrist PPG</a:t>
            </a:r>
          </a:p>
          <a:p>
            <a:r>
              <a:rPr dirty="0"/>
              <a:t>Less intrusive than clinical PSG — practical for nightly, longitudinal monitoring</a:t>
            </a:r>
          </a:p>
          <a:p>
            <a:r>
              <a:rPr dirty="0"/>
              <a:t>Projected accuracy: ~80–86%, consistent with comparable single-channel EEG studies [2–4]</a:t>
            </a:r>
          </a:p>
          <a:p>
            <a:r>
              <a:rPr dirty="0"/>
              <a:t>Edge inference on Raspberry Pi — self-contained, no network or cloud dependency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Why It Belongs on the Edge</a:t>
            </a:r>
          </a:p>
        </p:txBody>
      </p:sp>
      <p:sp>
        <p:nvSpPr>
          <p:cNvPr id="3" name="Content Placeholder 2"/>
          <p:cNvSpPr>
            <a:spLocks noGrp="1"/>
          </p:cNvSpPr>
          <p:nvPr>
            <p:ph idx="1"/>
          </p:nvPr>
        </p:nvSpPr>
        <p:spPr/>
        <p:txBody>
          <a:bodyPr wrap="square"/>
          <a:lstStyle/>
          <a:p>
            <a:r>
              <a:rPr dirty="0"/>
              <a:t>Privacy — EEG contains sensitive biometric data; local processing avoids cloud transmission</a:t>
            </a:r>
          </a:p>
          <a:p>
            <a:r>
              <a:rPr dirty="0"/>
              <a:t>Connectivity independence — functions without a network connection</a:t>
            </a:r>
          </a:p>
          <a:p>
            <a:r>
              <a:rPr dirty="0"/>
              <a:t>Real-time latency — no round-trip delay to a remote server</a:t>
            </a:r>
          </a:p>
          <a:p>
            <a:r>
              <a:rPr dirty="0"/>
              <a:t>Accessibility — compact, self-contained form factor suitable for home deployment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Available Sleep EEG Datasets</a:t>
            </a:r>
          </a:p>
        </p:txBody>
      </p:sp>
      <p:sp>
        <p:nvSpPr>
          <p:cNvPr id="3" name="Content Placeholder 2"/>
          <p:cNvSpPr>
            <a:spLocks noGrp="1"/>
          </p:cNvSpPr>
          <p:nvPr>
            <p:ph idx="1"/>
          </p:nvPr>
        </p:nvSpPr>
        <p:spPr/>
        <p:txBody>
          <a:bodyPr wrap="square">
            <a:normAutofit lnSpcReduction="10000"/>
          </a:bodyPr>
          <a:lstStyle/>
          <a:p>
            <a:r>
              <a:rPr dirty="0" err="1"/>
              <a:t>SleepEDF</a:t>
            </a:r>
            <a:r>
              <a:rPr dirty="0"/>
              <a:t> — most widely used benchmark; annotated by AASM sleep stage</a:t>
            </a:r>
          </a:p>
          <a:p>
            <a:pPr lvl="1"/>
            <a:r>
              <a:rPr dirty="0" err="1"/>
              <a:t>Fpz-Cz</a:t>
            </a:r>
            <a:r>
              <a:rPr dirty="0"/>
              <a:t> probe locations (comfortable); two versions: SleepEDF-20 (20 subjects) and SleepEDF-78 (78 subjects)</a:t>
            </a:r>
          </a:p>
          <a:p>
            <a:r>
              <a:rPr dirty="0"/>
              <a:t>SHHS (Sleep Heart Health Study) — large-scale, but uses uncomfortable probe placement</a:t>
            </a:r>
          </a:p>
          <a:p>
            <a:r>
              <a:rPr dirty="0"/>
              <a:t>MASS (Montreal Archive of Sleep Studies) — requires institutional access review</a:t>
            </a:r>
          </a:p>
          <a:p>
            <a:r>
              <a:rPr dirty="0"/>
              <a:t>Selected: </a:t>
            </a:r>
            <a:r>
              <a:rPr dirty="0" err="1"/>
              <a:t>SleepEDF</a:t>
            </a:r>
            <a:r>
              <a:rPr dirty="0"/>
              <a:t> — openly accessible, widely benchmarked, compatible probe locations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Prior Research</a:t>
            </a:r>
          </a:p>
        </p:txBody>
      </p:sp>
      <p:sp>
        <p:nvSpPr>
          <p:cNvPr id="3" name="Text Placeholder 2"/>
          <p:cNvSpPr>
            <a:spLocks noGrp="1"/>
          </p:cNvSpPr>
          <p:nvPr>
            <p:ph type="body" idx="1"/>
          </p:nvPr>
        </p:nvSpPr>
        <p:spPr/>
        <p:txBody>
          <a:bodyPr/>
          <a:lstStyle/>
          <a:p>
            <a:r>
              <a:t>Section 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Lightweight EEG Sleep Staging in Children at the Edge (Zhu et al., 2022)</a:t>
            </a:r>
          </a:p>
        </p:txBody>
      </p:sp>
      <p:sp>
        <p:nvSpPr>
          <p:cNvPr id="3" name="Content Placeholder 2"/>
          <p:cNvSpPr>
            <a:spLocks noGrp="1"/>
          </p:cNvSpPr>
          <p:nvPr>
            <p:ph idx="1"/>
          </p:nvPr>
        </p:nvSpPr>
        <p:spPr/>
        <p:txBody>
          <a:bodyPr wrap="square"/>
          <a:lstStyle/>
          <a:p>
            <a:r>
              <a:t>Targets pediatric subjects — EEG staging patterns differ meaningfully from adults</a:t>
            </a:r>
          </a:p>
          <a:p>
            <a:r>
              <a:t>Emphasizes privacy benefits of edge-side EEG processing</a:t>
            </a:r>
          </a:p>
          <a:p>
            <a:r>
              <a:t>Five-class staging: Wake, N1, N2, N3, REM</a:t>
            </a:r>
          </a:p>
          <a:p>
            <a:r>
              <a:t>Datasets: SleepEDF (Fpz-Cz probes) and a custom pediatric set</a:t>
            </a:r>
          </a:p>
          <a:p>
            <a:r>
              <a:t>All experiments executed on a high-performance desktop — not deployed to edge hardware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Lightweight EEG Sleep Staging in Children at the Edge (Cont.)</a:t>
            </a:r>
          </a:p>
        </p:txBody>
      </p:sp>
      <p:sp>
        <p:nvSpPr>
          <p:cNvPr id="3" name="TextBox 2"/>
          <p:cNvSpPr txBox="1"/>
          <p:nvPr/>
        </p:nvSpPr>
        <p:spPr>
          <a:xfrm>
            <a:off x="457200" y="1737360"/>
            <a:ext cx="4572000" cy="4754880"/>
          </a:xfrm>
          <a:prstGeom prst="rect">
            <a:avLst/>
          </a:prstGeom>
          <a:noFill/>
        </p:spPr>
        <p:txBody>
          <a:bodyPr wrap="square">
            <a:spAutoFit/>
          </a:bodyPr>
          <a:lstStyle/>
          <a:p>
            <a:r>
              <a:rPr sz="1600"/>
              <a:t>Signal processing in the time domain (not frequency domain)</a:t>
            </a:r>
          </a:p>
          <a:p>
            <a:r>
              <a:rPr sz="1600"/>
              <a:t>Input segmented into 30-second epochs; normalized to zero mean and unit variance</a:t>
            </a:r>
          </a:p>
          <a:p>
            <a:r>
              <a:rPr sz="1600"/>
              <a:t>Accuracy: 83.06% (custom pediatric dataset), 86.41% (SleepEDF)</a:t>
            </a:r>
          </a:p>
          <a:p>
            <a:r>
              <a:rPr sz="1600"/>
              <a:t>Image credit: Zhu et al., World Wide Web, Dec. 2021.</a:t>
            </a:r>
          </a:p>
        </p:txBody>
      </p:sp>
      <p:pic>
        <p:nvPicPr>
          <p:cNvPr id="4" name="Picture 3" descr="image.png"/>
          <p:cNvPicPr>
            <a:picLocks noChangeAspect="1"/>
          </p:cNvPicPr>
          <p:nvPr/>
        </p:nvPicPr>
        <p:blipFill>
          <a:blip r:embed="rId2"/>
          <a:stretch>
            <a:fillRect/>
          </a:stretch>
        </p:blipFill>
        <p:spPr>
          <a:xfrm>
            <a:off x="5212080" y="1371600"/>
            <a:ext cx="6583680" cy="51206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Lightweight EEG Sleep Staging in Children at the Edge (Cont.)</a:t>
            </a:r>
          </a:p>
        </p:txBody>
      </p:sp>
      <p:sp>
        <p:nvSpPr>
          <p:cNvPr id="3" name="TextBox 2"/>
          <p:cNvSpPr txBox="1"/>
          <p:nvPr/>
        </p:nvSpPr>
        <p:spPr>
          <a:xfrm>
            <a:off x="457200" y="1737360"/>
            <a:ext cx="4572000" cy="4754880"/>
          </a:xfrm>
          <a:prstGeom prst="rect">
            <a:avLst/>
          </a:prstGeom>
          <a:noFill/>
        </p:spPr>
        <p:txBody>
          <a:bodyPr wrap="square">
            <a:spAutoFit/>
          </a:bodyPr>
          <a:lstStyle/>
          <a:p>
            <a:r>
              <a:rPr sz="1600"/>
              <a:t>All activation functions: ReLU</a:t>
            </a:r>
          </a:p>
          <a:p>
            <a:r>
              <a:rPr sz="1600"/>
              <a:t>Image credit: Zhu et al., World Wide Web, Dec. 2021.</a:t>
            </a:r>
          </a:p>
        </p:txBody>
      </p:sp>
      <p:pic>
        <p:nvPicPr>
          <p:cNvPr id="4" name="Picture 3" descr="image.png"/>
          <p:cNvPicPr>
            <a:picLocks noChangeAspect="1"/>
          </p:cNvPicPr>
          <p:nvPr/>
        </p:nvPicPr>
        <p:blipFill>
          <a:blip r:embed="rId2"/>
          <a:stretch>
            <a:fillRect/>
          </a:stretch>
        </p:blipFill>
        <p:spPr>
          <a:xfrm>
            <a:off x="5212080" y="1371600"/>
            <a:ext cx="6583680" cy="51206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CNN Sleep Disorder Classification on Raspberry Pi (Atianashie Miracle et al., 2021)</a:t>
            </a:r>
          </a:p>
        </p:txBody>
      </p:sp>
      <p:sp>
        <p:nvSpPr>
          <p:cNvPr id="3" name="Content Placeholder 2"/>
          <p:cNvSpPr>
            <a:spLocks noGrp="1"/>
          </p:cNvSpPr>
          <p:nvPr>
            <p:ph idx="1"/>
          </p:nvPr>
        </p:nvSpPr>
        <p:spPr/>
        <p:txBody>
          <a:bodyPr wrap="square"/>
          <a:lstStyle/>
          <a:p>
            <a:r>
              <a:t>Binary classification: healthy vs. unhealthy (sleep apnea, insomnia)</a:t>
            </a:r>
          </a:p>
          <a:p>
            <a:r>
              <a:t>Deployed and tested on a Raspberry Pi — true edge inference</a:t>
            </a:r>
          </a:p>
          <a:p>
            <a:r>
              <a:t>Single EEG channel; signals processed in the time domain</a:t>
            </a:r>
          </a:p>
          <a:p>
            <a:r>
              <a:t>30-second epochs with noise filtering applied before classification</a:t>
            </a:r>
          </a:p>
          <a:p>
            <a:r>
              <a:t>Accuracy: 92% (sleep apnea), 89% (insomnia)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CNN Sleep Disorder Classification on Raspberry Pi (Cont.)</a:t>
            </a:r>
          </a:p>
        </p:txBody>
      </p:sp>
      <p:sp>
        <p:nvSpPr>
          <p:cNvPr id="3" name="TextBox 2"/>
          <p:cNvSpPr txBox="1"/>
          <p:nvPr/>
        </p:nvSpPr>
        <p:spPr>
          <a:xfrm>
            <a:off x="457200" y="1554480"/>
            <a:ext cx="11247120" cy="1005840"/>
          </a:xfrm>
          <a:prstGeom prst="rect">
            <a:avLst/>
          </a:prstGeom>
          <a:noFill/>
        </p:spPr>
        <p:txBody>
          <a:bodyPr wrap="square">
            <a:spAutoFit/>
          </a:bodyPr>
          <a:lstStyle/>
          <a:p>
            <a:r>
              <a:rPr sz="1600"/>
              <a:t>All activation functions: ReLU</a:t>
            </a:r>
          </a:p>
          <a:p>
            <a:r>
              <a:rPr sz="1600"/>
              <a:t>Image credit: Atianashie Miracle et al., J. Eng. Appl. Sci. Humanities, 2021.</a:t>
            </a:r>
          </a:p>
        </p:txBody>
      </p:sp>
      <p:pic>
        <p:nvPicPr>
          <p:cNvPr id="4" name="Picture 3" descr="image.png"/>
          <p:cNvPicPr>
            <a:picLocks noChangeAspect="1"/>
          </p:cNvPicPr>
          <p:nvPr/>
        </p:nvPicPr>
        <p:blipFill>
          <a:blip r:embed="rId2"/>
          <a:stretch>
            <a:fillRect/>
          </a:stretch>
        </p:blipFill>
        <p:spPr>
          <a:xfrm>
            <a:off x="365760" y="2651760"/>
            <a:ext cx="5669280" cy="3931920"/>
          </a:xfrm>
          <a:prstGeom prst="rect">
            <a:avLst/>
          </a:prstGeom>
        </p:spPr>
      </p:pic>
      <p:pic>
        <p:nvPicPr>
          <p:cNvPr id="5" name="Picture 4" descr="image.png"/>
          <p:cNvPicPr>
            <a:picLocks noChangeAspect="1"/>
          </p:cNvPicPr>
          <p:nvPr/>
        </p:nvPicPr>
        <p:blipFill>
          <a:blip r:embed="rId3"/>
          <a:stretch>
            <a:fillRect/>
          </a:stretch>
        </p:blipFill>
        <p:spPr>
          <a:xfrm>
            <a:off x="6309360" y="2651760"/>
            <a:ext cx="5669280" cy="393192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MicroSleepNet: Mobile Real-Time Sleep Staging (Liu et al., 2023)</a:t>
            </a:r>
          </a:p>
        </p:txBody>
      </p:sp>
      <p:sp>
        <p:nvSpPr>
          <p:cNvPr id="3" name="TextBox 2"/>
          <p:cNvSpPr txBox="1"/>
          <p:nvPr/>
        </p:nvSpPr>
        <p:spPr>
          <a:xfrm>
            <a:off x="457200" y="1737360"/>
            <a:ext cx="4572000" cy="4754880"/>
          </a:xfrm>
          <a:prstGeom prst="rect">
            <a:avLst/>
          </a:prstGeom>
          <a:noFill/>
        </p:spPr>
        <p:txBody>
          <a:bodyPr wrap="square">
            <a:spAutoFit/>
          </a:bodyPr>
          <a:lstStyle/>
          <a:p>
            <a:r>
              <a:rPr sz="1600"/>
              <a:t>Deployed on Snapdragon-based Android; inference latency: 2.8 ms</a:t>
            </a:r>
          </a:p>
          <a:p>
            <a:r>
              <a:rPr sz="1600"/>
              <a:t>Evaluated on SleepEDF (Fpz-Cz) and SHHS (C4-A1)</a:t>
            </a:r>
          </a:p>
          <a:p>
            <a:r>
              <a:rPr sz="1600"/>
              <a:t>SleepEDF: no preprocessing; SHHS: class imbalance correction applied</a:t>
            </a:r>
          </a:p>
          <a:p>
            <a:r>
              <a:rPr sz="1600"/>
              <a:t>Standard 30-second epoch segmentation</a:t>
            </a:r>
          </a:p>
          <a:p>
            <a:r>
              <a:rPr sz="1600"/>
              <a:t>Accuracy: 83.3% (SHHS), 79.5% (SleepEDF-78), 82.8% (SleepEDF-20)</a:t>
            </a:r>
          </a:p>
          <a:p>
            <a:r>
              <a:rPr sz="1600"/>
              <a:t>Image credit: Liu et al., Frontiers in Neuroscience, Jul. 2023.</a:t>
            </a:r>
          </a:p>
        </p:txBody>
      </p:sp>
      <p:pic>
        <p:nvPicPr>
          <p:cNvPr id="4" name="Picture 3" descr="image.png"/>
          <p:cNvPicPr>
            <a:picLocks noChangeAspect="1"/>
          </p:cNvPicPr>
          <p:nvPr/>
        </p:nvPicPr>
        <p:blipFill>
          <a:blip r:embed="rId2"/>
          <a:stretch>
            <a:fillRect/>
          </a:stretch>
        </p:blipFill>
        <p:spPr>
          <a:xfrm>
            <a:off x="5212080" y="1371600"/>
            <a:ext cx="6583680" cy="512064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MicroSleepNet: Mobile Real-Time Sleep Staging (Cont.)</a:t>
            </a:r>
          </a:p>
        </p:txBody>
      </p:sp>
      <p:sp>
        <p:nvSpPr>
          <p:cNvPr id="3" name="TextBox 2"/>
          <p:cNvSpPr txBox="1"/>
          <p:nvPr/>
        </p:nvSpPr>
        <p:spPr>
          <a:xfrm>
            <a:off x="457200" y="1554480"/>
            <a:ext cx="11247120" cy="1005840"/>
          </a:xfrm>
          <a:prstGeom prst="rect">
            <a:avLst/>
          </a:prstGeom>
          <a:noFill/>
        </p:spPr>
        <p:txBody>
          <a:bodyPr wrap="square">
            <a:spAutoFit/>
          </a:bodyPr>
          <a:lstStyle/>
          <a:p>
            <a:r>
              <a:rPr sz="1600"/>
              <a:t>Channel shuffle applied between every two convolutional operations</a:t>
            </a:r>
          </a:p>
          <a:p>
            <a:r>
              <a:rPr sz="1600"/>
              <a:t>All activation functions: LeakyReLU</a:t>
            </a:r>
          </a:p>
          <a:p>
            <a:r>
              <a:rPr sz="1600"/>
              <a:t>Image credit: Liu et al., Frontiers in Neuroscience, Jul. 2023.</a:t>
            </a:r>
          </a:p>
        </p:txBody>
      </p:sp>
      <p:pic>
        <p:nvPicPr>
          <p:cNvPr id="4" name="Picture 3" descr="image.png"/>
          <p:cNvPicPr>
            <a:picLocks noChangeAspect="1"/>
          </p:cNvPicPr>
          <p:nvPr/>
        </p:nvPicPr>
        <p:blipFill>
          <a:blip r:embed="rId2"/>
          <a:stretch>
            <a:fillRect/>
          </a:stretch>
        </p:blipFill>
        <p:spPr>
          <a:xfrm>
            <a:off x="274320" y="2560320"/>
            <a:ext cx="3840480" cy="4023360"/>
          </a:xfrm>
          <a:prstGeom prst="rect">
            <a:avLst/>
          </a:prstGeom>
        </p:spPr>
      </p:pic>
      <p:pic>
        <p:nvPicPr>
          <p:cNvPr id="5" name="Picture 4" descr="image.png"/>
          <p:cNvPicPr>
            <a:picLocks noChangeAspect="1"/>
          </p:cNvPicPr>
          <p:nvPr/>
        </p:nvPicPr>
        <p:blipFill>
          <a:blip r:embed="rId3"/>
          <a:stretch>
            <a:fillRect/>
          </a:stretch>
        </p:blipFill>
        <p:spPr>
          <a:xfrm>
            <a:off x="4251959" y="2560320"/>
            <a:ext cx="3840480" cy="4023360"/>
          </a:xfrm>
          <a:prstGeom prst="rect">
            <a:avLst/>
          </a:prstGeom>
        </p:spPr>
      </p:pic>
      <p:pic>
        <p:nvPicPr>
          <p:cNvPr id="6" name="Picture 5" descr="image.png"/>
          <p:cNvPicPr>
            <a:picLocks noChangeAspect="1"/>
          </p:cNvPicPr>
          <p:nvPr/>
        </p:nvPicPr>
        <p:blipFill>
          <a:blip r:embed="rId4"/>
          <a:stretch>
            <a:fillRect/>
          </a:stretch>
        </p:blipFill>
        <p:spPr>
          <a:xfrm>
            <a:off x="8229600" y="2560320"/>
            <a:ext cx="3840480" cy="402336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wrap="square"/>
          <a:lstStyle/>
          <a:p>
            <a:r>
              <a:rPr sz="1400"/>
              <a:t>[1] A.-M. Schyvens et al., “A performance validation of six commercial wrist-worn wearable sleep-tracking devices for sleep stage scoring compared to polysomnography,” Sleep Advances, vol. 6, no. 2, Mar. 2025. doi: 10.1093/sleepadvances/zpaf021.</a:t>
            </a:r>
          </a:p>
          <a:p>
            <a:r>
              <a:rPr sz="1400"/>
              <a:t>[2] L. Zhu et al., “A lightweight automatic sleep staging method for children using single-channel EEG based on edge artificial intelligence,” World Wide Web, Dec. 2021. doi: 10.1007/s11280-021-00983-3.</a:t>
            </a:r>
          </a:p>
          <a:p>
            <a:r>
              <a:rPr sz="1400"/>
              <a:t>[3] A. Atianashie Miracle et al., “A portable GUI based sleep disorder system classification based on convolution neural networks (CNN) in Raspberry Pi,” J. Eng. Appl. Sci. Humanities, vol. 6, pp. 13–23, 2021.</a:t>
            </a:r>
          </a:p>
          <a:p>
            <a:r>
              <a:rPr sz="1400"/>
              <a:t>[4] G. Liu et al., “MicroSleepNet: efficient deep learning model for mobile terminal real-time sleep staging,” Frontiers in Neuroscience, vol. 17, Jul. 2023. doi: 10.3389/fnins.2023.1218072.</a:t>
            </a:r>
          </a:p>
        </p:txBody>
      </p:sp>
    </p:spTree>
  </p:cSld>
  <p:clrMapOvr>
    <a:masterClrMapping/>
  </p:clrMapOvr>
</p:sld>
</file>

<file path=ppt/theme/theme1.xml><?xml version="1.0" encoding="utf-8"?>
<a:theme xmlns:a="http://schemas.openxmlformats.org/drawingml/2006/main" name="UofSC Simple Theme">
  <a:themeElements>
    <a:clrScheme name="Custom 1">
      <a:dk1>
        <a:srgbClr val="000000"/>
      </a:dk1>
      <a:lt1>
        <a:srgbClr val="FFFFFF"/>
      </a:lt1>
      <a:dk2>
        <a:srgbClr val="73000A"/>
      </a:dk2>
      <a:lt2>
        <a:srgbClr val="E7E6E6"/>
      </a:lt2>
      <a:accent1>
        <a:srgbClr val="0D3841"/>
      </a:accent1>
      <a:accent2>
        <a:srgbClr val="E23B38"/>
      </a:accent2>
      <a:accent3>
        <a:srgbClr val="759005"/>
      </a:accent3>
      <a:accent4>
        <a:srgbClr val="FFF89E"/>
      </a:accent4>
      <a:accent5>
        <a:srgbClr val="3277B6"/>
      </a:accent5>
      <a:accent6>
        <a:srgbClr val="C1D832"/>
      </a:accent6>
      <a:hlink>
        <a:srgbClr val="73000A"/>
      </a:hlink>
      <a:folHlink>
        <a:srgbClr val="E23B38"/>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0E35BC0C-4535-7F41-8EDB-CB375E44534D}" vid="{89EE9AB1-1FC3-EE42-B60A-9165AA8342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1374</TotalTime>
  <Words>1072</Words>
  <Application>Microsoft Macintosh PowerPoint</Application>
  <PresentationFormat>Widescreen</PresentationFormat>
  <Paragraphs>84</Paragraphs>
  <Slides>17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Impact</vt:lpstr>
      <vt:lpstr>UofSC Simple Theme</vt:lpstr>
      <vt:lpstr>at the Edge: Sleep Stage Classification</vt:lpstr>
      <vt:lpstr>What Is Sleep Stage Classification?</vt:lpstr>
      <vt:lpstr>Why Does It Matter?</vt:lpstr>
      <vt:lpstr>The Gold Standard: Clinical PSG</vt:lpstr>
      <vt:lpstr>Smart Watches: Ubiquitous but Imprecise</vt:lpstr>
      <vt:lpstr>Our Approach: Wearable Single-Channel EEG</vt:lpstr>
      <vt:lpstr>Why It Belongs on the Edge</vt:lpstr>
      <vt:lpstr>Available Sleep EEG Datasets</vt:lpstr>
      <vt:lpstr>Prior Research</vt:lpstr>
      <vt:lpstr>Lightweight EEG Sleep Staging in Children at the Edge (Zhu et al., 2022)</vt:lpstr>
      <vt:lpstr>Lightweight EEG Sleep Staging in Children at the Edge (Cont.)</vt:lpstr>
      <vt:lpstr>Lightweight EEG Sleep Staging in Children at the Edge (Cont.)</vt:lpstr>
      <vt:lpstr>CNN Sleep Disorder Classification on Raspberry Pi (Atianashie Miracle et al., 2021)</vt:lpstr>
      <vt:lpstr>CNN Sleep Disorder Classification on Raspberry Pi (Cont.)</vt:lpstr>
      <vt:lpstr>MicroSleepNet: Mobile Real-Time Sleep Staging (Liu et al., 2023)</vt:lpstr>
      <vt:lpstr>MicroSleepNet: Mobile Real-Time Sleep Staging (Cont.)</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dc:title>
  <dc:creator>Wertz, Bob</dc:creator>
  <cp:lastModifiedBy>Jerzmanowski, Kuba</cp:lastModifiedBy>
  <cp:revision>2</cp:revision>
  <dcterms:created xsi:type="dcterms:W3CDTF">2024-06-05T19:44:12Z</dcterms:created>
  <dcterms:modified xsi:type="dcterms:W3CDTF">2026-02-28T19:41:46Z</dcterms:modified>
</cp:coreProperties>
</file>